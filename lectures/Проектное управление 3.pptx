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18"/>
    <p:restoredTop sz="96327"/>
  </p:normalViewPr>
  <p:slideViewPr>
    <p:cSldViewPr snapToGrid="0">
      <p:cViewPr varScale="1">
        <p:scale>
          <a:sx n="128" d="100"/>
          <a:sy n="128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2A90B-0137-55E9-3D3F-FF2CD1BAF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2F3CF5-0CD9-E7D5-AFA8-2BC9BC56F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759438-E0D0-776E-9913-95B1C34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0335A3-80C0-F6DA-C977-C349D8D5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0A3FAF-FF54-8D2B-C53B-C571BD34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08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D1B72-C786-8A18-FE8C-23B59804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103600-5ACB-BC8C-FAA6-9AFEA67AE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EF0961-0F55-08F6-D471-24CD8E680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D9EC1C-BB83-4FFC-B28E-E895D587C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B9FA5D-F2BC-9331-E924-013698B4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85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0F540-E46F-7780-52D8-C4627CC1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E4521D-4715-9537-D633-747214589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5C3E90-C482-0A5D-F850-A5F9C2C9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2D56C4-3419-4B1C-5319-971DF32E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BC8AB7-1421-40FD-DC5A-62777591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197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CA77B-B797-F221-498D-4D606356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4E0BE4-499B-1A4E-E593-9E9CE589F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F85BDD-F691-010A-C960-A4CE15E38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36A491-8BE5-6AE9-0793-D8B7A14F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6EEC9E-2FE8-0F46-F251-D8EAF75F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7758B9-BC10-164C-8924-44D01AB0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04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0742B-4626-2FEA-02DA-2FFBD2CD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FDAE44-2186-6037-1AFB-703B236BD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B2C060-A028-E879-422C-A57F44DE6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09F384-4510-B13C-E110-CA3A61392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00DC5E-3C03-4031-9075-C845DF582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E73D125-B62E-3F97-0E0D-C8E4D0BE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B72C88-D0C6-EFAF-C464-A051E7F8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0F949C-5EF4-780A-F52A-CB4B28AE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60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03EC9-3A5B-9D97-CDCB-CAF49F8D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E7B442-2F18-D9E9-87CD-E729BA1F5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9A77AF-0180-35B5-7BC9-04394643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8DD80C-8DBE-8D00-09A7-1D99AAC1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1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BD33760-A8A1-8D80-ECEB-7DCD1FF4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94D3450-3381-65EC-88E9-96EFA5CE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1C9D36-18C4-BD8C-73E0-8A4D3462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1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38F84-8E69-21A5-565E-6D218DEE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873EBC-99D6-4997-617F-1C95B1767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48CD65-04A7-C1BB-3F7B-EB1BE7DC4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97DC5D-2379-EB05-6EBD-AE20C39B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C37D7E-698F-019F-E1D7-47FC793A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797098-FF28-A9C7-A835-F8CA0A1D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67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CF17F-C163-E30A-1FD3-3A343238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7695DE-AE07-63E8-6574-C63CE47BF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1406EC-3704-D029-4915-0FF194BAF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5B91F9-DDAE-B6F3-1810-49E7673EA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3CEAF0-7666-711D-E499-CADE3CF5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C931FC-CB84-0382-9B0F-4EC61406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52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B9C7C-5AC7-CCDD-EF51-63CC9DB6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02C283-953C-61AA-FE00-F8B39447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D860C5-C997-0A1F-BB36-A3FC4DA4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BD2DEE-3214-29DA-ED91-0E7C687A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9B0D8A-0BF5-5A9B-ACC0-88C06F47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46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66CB2E3-A89B-A430-CCA1-5C2180CA5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1ED499-6C02-570C-F3C4-D9C04B947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AAF1D0-F4A9-88E3-BD5A-5C9AC35A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9BE223-BBF6-A421-46D5-86153CBB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BFD99B-4856-7F8B-2B3F-8DFEA137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8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CEE28-549A-CE3B-4E86-D72FF2651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639BC2-9F4F-738E-E325-E03F3AD88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310BF4-667C-DF07-206F-7C22DA142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B3F5D-EE49-F347-AD1A-F12FECDBC01C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22A65B-4407-38C7-1824-0F81EAF09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C76B5-DE15-28C1-CE42-11A45610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6F80F-EAF0-7847-8CB8-150012F70B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8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Управление проектами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Занятие 3. Релизные циклы и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Демонстрация домашней работы</a:t>
            </a:r>
          </a:p>
          <a:p>
            <a:r>
              <a:rPr sz="2600"/>
              <a:t>Релизные циклы — зачем и какие бывают</a:t>
            </a:r>
          </a:p>
          <a:p>
            <a:r>
              <a:rPr sz="2600"/>
              <a:t>Семантическое версионирование</a:t>
            </a:r>
          </a:p>
          <a:p>
            <a:r>
              <a:rPr sz="2600"/>
              <a:t>Git-ветвление для релизов</a:t>
            </a:r>
          </a:p>
          <a:p>
            <a:r>
              <a:rPr sz="2600"/>
              <a:t>CI/CD и GitHub Actions</a:t>
            </a:r>
          </a:p>
          <a:p>
            <a:r>
              <a:rPr sz="2600"/>
              <a:t>Групповое задание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 прошлой паре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Типы бюджетов:</a:t>
            </a:r>
          </a:p>
          <a:p>
            <a:pPr lvl="1"/>
            <a:r>
              <a:rPr sz="2200"/>
              <a:t>Fixed Price — фиксированная стоимость</a:t>
            </a:r>
          </a:p>
          <a:p>
            <a:pPr lvl="1"/>
            <a:r>
              <a:rPr sz="2200"/>
              <a:t>Time &amp; Material — по факту затрат</a:t>
            </a:r>
          </a:p>
          <a:p>
            <a:pPr lvl="1"/>
            <a:r>
              <a:rPr sz="2200"/>
              <a:t>Agile-бюджеты — по спринтам/этапам</a:t>
            </a:r>
          </a:p>
          <a:p>
            <a:r>
              <a:rPr sz="2600"/>
              <a:t>Предварительный анализ проекта:</a:t>
            </a:r>
          </a:p>
          <a:p>
            <a:pPr lvl="1"/>
            <a:r>
              <a:rPr sz="2200"/>
              <a:t>Что делаем? Зачем? Для кого?</a:t>
            </a:r>
          </a:p>
          <a:p>
            <a:pPr lvl="1"/>
            <a:r>
              <a:rPr sz="2200"/>
              <a:t>Валидация идеи и customer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Релизные циклы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доставлять продукт пользователям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релизный цикл?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Релизный цикл — повторяющийся процесс от идеи до выпуска версии продукта</a:t>
            </a:r>
          </a:p>
          <a:p>
            <a:endParaRPr sz="2600"/>
          </a:p>
          <a:p>
            <a:r>
              <a:rPr sz="2600"/>
              <a:t>Зачем нужен?</a:t>
            </a:r>
          </a:p>
          <a:p>
            <a:pPr lvl="1"/>
            <a:r>
              <a:rPr sz="2200"/>
              <a:t>Предсказуемость для команды и пользователей</a:t>
            </a:r>
          </a:p>
          <a:p>
            <a:pPr lvl="1"/>
            <a:r>
              <a:rPr sz="2200"/>
              <a:t>Контроль качества перед выпуском</a:t>
            </a:r>
          </a:p>
          <a:p>
            <a:pPr lvl="1"/>
            <a:r>
              <a:rPr sz="2200"/>
              <a:t>Возможность планировать фичи и баг-фиксы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Модели релизов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Fixed Release — выпуск по расписанию (каждые N недель)</a:t>
            </a:r>
          </a:p>
          <a:p>
            <a:pPr lvl="1"/>
            <a:r>
              <a:rPr sz="2200"/>
              <a:t>Пример: Ubuntu (каждые 6 мес.), Firefox</a:t>
            </a:r>
          </a:p>
          <a:p>
            <a:r>
              <a:rPr sz="2600"/>
              <a:t>Continuous Delivery — каждый коммит готов к релизу</a:t>
            </a:r>
          </a:p>
          <a:p>
            <a:pPr lvl="1"/>
            <a:r>
              <a:rPr sz="2200"/>
              <a:t>Пример: SaaS-продукты, веб-сервисы</a:t>
            </a:r>
          </a:p>
          <a:p>
            <a:r>
              <a:rPr sz="2600"/>
              <a:t>Feature-based — релиз, когда набор фич готов</a:t>
            </a:r>
          </a:p>
          <a:p>
            <a:pPr lvl="1"/>
            <a:r>
              <a:rPr sz="2200"/>
              <a:t>Пример: игры, мобильные приложения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 какую модель выбрать?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Fixed Release — когда важна предсказуемость</a:t>
            </a:r>
          </a:p>
          <a:p>
            <a:pPr lvl="1"/>
            <a:r>
              <a:rPr sz="2200"/>
              <a:t>Корпоративный софт, OS, браузеры</a:t>
            </a:r>
          </a:p>
          <a:p>
            <a:r>
              <a:rPr sz="2600"/>
              <a:t>Continuous Delivery — когда важна скорость</a:t>
            </a:r>
          </a:p>
          <a:p>
            <a:pPr lvl="1"/>
            <a:r>
              <a:rPr sz="2200"/>
              <a:t>Веб-сервисы, SaaS, внутренние инструменты</a:t>
            </a:r>
          </a:p>
          <a:p>
            <a:r>
              <a:rPr sz="2600"/>
              <a:t>Feature-based — когда важен набор функций</a:t>
            </a:r>
          </a:p>
          <a:p>
            <a:pPr lvl="1"/>
            <a:r>
              <a:rPr sz="2200"/>
              <a:t>Мобильные приложения, игры, десктоп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релизят большие компании?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Google Chrome — Fixed Release (каждые 4 недели)</a:t>
            </a:r>
          </a:p>
          <a:p>
            <a:r>
              <a:rPr sz="2600"/>
              <a:t>Netflix — Continuous Delivery (сотни деплоев в день)</a:t>
            </a:r>
          </a:p>
          <a:p>
            <a:r>
              <a:rPr sz="2600"/>
              <a:t>iOS / Android — Feature-based (раз в год + патчи)</a:t>
            </a:r>
          </a:p>
          <a:p>
            <a:r>
              <a:rPr sz="2600"/>
              <a:t>Ubuntu — Fixed + LTS (каждые 6 мес., LTS каждые 2 года)</a:t>
            </a:r>
          </a:p>
          <a:p>
            <a:endParaRPr sz="2600"/>
          </a:p>
          <a:p>
            <a:r>
              <a:rPr sz="2600"/>
              <a:t>Нет «правильной» модели — есть подходящая для проекта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Версионирование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нумеровать релизы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Семантическое версионирование (SemVer)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Формат: MAJOR.MINOR.PATCH</a:t>
            </a:r>
          </a:p>
          <a:p>
            <a:endParaRPr sz="2600"/>
          </a:p>
          <a:p>
            <a:pPr lvl="1"/>
            <a:r>
              <a:rPr sz="2200"/>
              <a:t>MAJOR — ломающие изменения (breaking changes)</a:t>
            </a:r>
          </a:p>
          <a:p>
            <a:pPr lvl="1"/>
            <a:r>
              <a:rPr sz="2200"/>
              <a:t>MINOR — новый функционал (обратно совместимый)</a:t>
            </a:r>
          </a:p>
          <a:p>
            <a:pPr lvl="1"/>
            <a:r>
              <a:rPr sz="2200"/>
              <a:t>PATCH — исправления багов</a:t>
            </a:r>
          </a:p>
          <a:p>
            <a:endParaRPr sz="2200"/>
          </a:p>
          <a:p>
            <a:r>
              <a:rPr sz="2600"/>
              <a:t>Пример: 1.0.0 → 1.0.1 (баг) → 1.1.0 (фича) → 2.0.0 (breaking)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SemVer — примеры из жизни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Python 3.11 → 3.12 (MINOR: новые фичи, совместимость)</a:t>
            </a:r>
          </a:p>
          <a:p>
            <a:r>
              <a:rPr sz="2600"/>
              <a:t>Python 2 → 3 (MAJOR: сломали обратную совместимость)</a:t>
            </a:r>
          </a:p>
          <a:p>
            <a:r>
              <a:rPr sz="2600"/>
              <a:t>Node.js 20.11.0 → 20.11.1 (PATCH: баг-фикс)</a:t>
            </a:r>
          </a:p>
          <a:p>
            <a:endParaRPr sz="2600"/>
          </a:p>
          <a:p>
            <a:r>
              <a:rPr sz="2600"/>
              <a:t>Зачем это важно?</a:t>
            </a:r>
          </a:p>
          <a:p>
            <a:pPr lvl="1"/>
            <a:r>
              <a:rPr sz="2200"/>
              <a:t>Пользователи понимают, чего ожидать от обновления</a:t>
            </a:r>
          </a:p>
          <a:p>
            <a:pPr lvl="1"/>
            <a:r>
              <a:rPr sz="2200"/>
              <a:t>Автоматизация зависимостей (npm, pip)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Git-ветвление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организовать работу с кодом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main — стабильная версия (продакшен)</a:t>
            </a:r>
          </a:p>
          <a:p>
            <a:r>
              <a:rPr sz="2600"/>
              <a:t>develop — ветка разработки</a:t>
            </a:r>
          </a:p>
          <a:p>
            <a:r>
              <a:rPr sz="2600"/>
              <a:t>feature/* — новые фичи</a:t>
            </a:r>
          </a:p>
          <a:p>
            <a:r>
              <a:rPr sz="2600"/>
              <a:t>release/* — подготовка релиза</a:t>
            </a:r>
          </a:p>
          <a:p>
            <a:r>
              <a:rPr sz="2600"/>
              <a:t>hotfix/* — срочные исправления</a:t>
            </a:r>
          </a:p>
          <a:p>
            <a:endParaRPr sz="2600"/>
          </a:p>
          <a:p>
            <a:r>
              <a:rPr sz="2600"/>
              <a:t>Подходит для проектов с чёткими релизами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Flow (упрощённый)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main — всегда рабочая версия</a:t>
            </a:r>
          </a:p>
          <a:p>
            <a:r>
              <a:rPr sz="2600"/>
              <a:t>feature-ветки → Pull Request → код-ревью → merge</a:t>
            </a:r>
          </a:p>
          <a:p>
            <a:endParaRPr sz="2600"/>
          </a:p>
          <a:p>
            <a:r>
              <a:rPr sz="2600"/>
              <a:t>Просто и понятно:</a:t>
            </a:r>
          </a:p>
          <a:p>
            <a:pPr lvl="1"/>
            <a:r>
              <a:rPr sz="2200"/>
              <a:t>Создал ветку → написал код → открыл PR</a:t>
            </a:r>
          </a:p>
          <a:p>
            <a:pPr lvl="1"/>
            <a:r>
              <a:rPr sz="2200"/>
              <a:t>Прошёл ревью и тесты → merge в main</a:t>
            </a:r>
          </a:p>
          <a:p>
            <a:pPr lvl="1"/>
            <a:r>
              <a:rPr sz="2200"/>
              <a:t>main → автоматический деплой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Этапы: от коммита до релиза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1. Планирование — scope релиза, приоритизация</a:t>
            </a:r>
          </a:p>
          <a:p>
            <a:r>
              <a:rPr sz="2600"/>
              <a:t>2. Разработка — feature-ветки, код-ревью</a:t>
            </a:r>
          </a:p>
          <a:p>
            <a:r>
              <a:rPr sz="2600"/>
              <a:t>3. Тестирование — автотесты, ручное QA</a:t>
            </a:r>
          </a:p>
          <a:p>
            <a:r>
              <a:rPr sz="2600"/>
              <a:t>4. Release Candidate — заморозка фич</a:t>
            </a:r>
          </a:p>
          <a:p>
            <a:r>
              <a:rPr sz="2600"/>
              <a:t>5. Релиз — тег версии, сборка, публикация</a:t>
            </a:r>
          </a:p>
          <a:p>
            <a:r>
              <a:rPr sz="2600"/>
              <a:t>6. Post-release — мониторинг, hotfix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Автоматизация сборки, тестов и релизов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— что это?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CI (Continuous Integration):</a:t>
            </a:r>
          </a:p>
          <a:p>
            <a:pPr lvl="1"/>
            <a:r>
              <a:rPr sz="2200"/>
              <a:t>Автоматическая сборка и тесты на каждый коммит</a:t>
            </a:r>
          </a:p>
          <a:p>
            <a:pPr lvl="1"/>
            <a:r>
              <a:rPr sz="2200"/>
              <a:t>Линтеры, автотесты, проверка стиля кода</a:t>
            </a:r>
          </a:p>
          <a:p>
            <a:endParaRPr sz="2200"/>
          </a:p>
          <a:p>
            <a:r>
              <a:rPr sz="2600"/>
              <a:t>CD (Continuous Delivery / Deployment):</a:t>
            </a:r>
          </a:p>
          <a:p>
            <a:pPr lvl="1"/>
            <a:r>
              <a:rPr sz="2200"/>
              <a:t>Автоматическая подготовка и публикация релиза</a:t>
            </a:r>
          </a:p>
          <a:p>
            <a:pPr lvl="1"/>
            <a:r>
              <a:rPr sz="2200"/>
              <a:t>Деплой на staging /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Actions — как работает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Workflow-файлы живут в .github/workflows/</a:t>
            </a:r>
          </a:p>
          <a:p>
            <a:r>
              <a:rPr sz="2600"/>
              <a:t>Запускаются по событиям: push, pull_request, tag</a:t>
            </a:r>
          </a:p>
          <a:p>
            <a:endParaRPr sz="2600"/>
          </a:p>
          <a:p>
            <a:r>
              <a:rPr sz="2600"/>
              <a:t>Структура:</a:t>
            </a:r>
          </a:p>
          <a:p>
            <a:pPr lvl="1"/>
            <a:r>
              <a:rPr sz="2200"/>
              <a:t>on: — когда запускать</a:t>
            </a:r>
          </a:p>
          <a:p>
            <a:pPr lvl="1"/>
            <a:r>
              <a:rPr sz="2200"/>
              <a:t>jobs: — что делать</a:t>
            </a:r>
          </a:p>
          <a:p>
            <a:pPr lvl="1"/>
            <a:r>
              <a:rPr sz="2200"/>
              <a:t>steps: — конкретные шаги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CI-пайплайн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Файл: .github/workflows/ci.yml</a:t>
            </a:r>
          </a:p>
          <a:p>
            <a:endParaRPr sz="2600"/>
          </a:p>
          <a:p>
            <a:r>
              <a:rPr sz="2600"/>
              <a:t>Что делает:</a:t>
            </a:r>
          </a:p>
          <a:p>
            <a:pPr lvl="1"/>
            <a:r>
              <a:rPr sz="2200"/>
              <a:t>Запускается на push и pull request в main</a:t>
            </a:r>
          </a:p>
          <a:p>
            <a:pPr lvl="1"/>
            <a:r>
              <a:rPr sz="2200"/>
              <a:t>Проверяет код линтером (ruff)</a:t>
            </a:r>
          </a:p>
          <a:p>
            <a:pPr lvl="1"/>
            <a:r>
              <a:rPr sz="2200"/>
              <a:t>Запускает тесты (pytest)</a:t>
            </a:r>
          </a:p>
          <a:p>
            <a:endParaRPr sz="2200"/>
          </a:p>
          <a:p>
            <a:r>
              <a:rPr sz="2600"/>
              <a:t>Результат: ✅ или ❌ прямо в Pull Request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автоматический релиз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Файл: .github/workflows/release.yml</a:t>
            </a:r>
          </a:p>
          <a:p>
            <a:endParaRPr sz="2600"/>
          </a:p>
          <a:p>
            <a:r>
              <a:rPr sz="2600"/>
              <a:t>Как работает:</a:t>
            </a:r>
          </a:p>
          <a:p>
            <a:pPr lvl="1"/>
            <a:r>
              <a:rPr sz="2200"/>
              <a:t>Пушим тег: git tag v1.0.0 &amp;&amp; git push --tags</a:t>
            </a:r>
          </a:p>
          <a:p>
            <a:pPr lvl="1"/>
            <a:r>
              <a:rPr sz="2200"/>
              <a:t>Actions собирает проект</a:t>
            </a:r>
          </a:p>
          <a:p>
            <a:pPr lvl="1"/>
            <a:r>
              <a:rPr sz="2200"/>
              <a:t>Генерирует changelog из коммитов</a:t>
            </a:r>
          </a:p>
          <a:p>
            <a:pPr lvl="1"/>
            <a:r>
              <a:rPr sz="2200"/>
              <a:t>Создает GitHub Release с артефактами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Release Drafter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Файл: .github/workflows/release-drafter.yml</a:t>
            </a:r>
          </a:p>
          <a:p>
            <a:endParaRPr sz="2600"/>
          </a:p>
          <a:p>
            <a:r>
              <a:rPr sz="2600"/>
              <a:t>На каждый PR формируется черновик следующего релиза</a:t>
            </a:r>
          </a:p>
          <a:p>
            <a:r>
              <a:rPr sz="2600"/>
              <a:t>PR группируются по лейблам:</a:t>
            </a:r>
          </a:p>
          <a:p>
            <a:pPr lvl="1"/>
            <a:r>
              <a:rPr sz="2200"/>
              <a:t>feature → «Новый функционал»</a:t>
            </a:r>
          </a:p>
          <a:p>
            <a:pPr lvl="1"/>
            <a:r>
              <a:rPr sz="2200"/>
              <a:t>fix → «Исправления»</a:t>
            </a:r>
          </a:p>
          <a:p>
            <a:pPr lvl="1"/>
            <a:r>
              <a:rPr sz="2200"/>
              <a:t>docs → «Документация»</a:t>
            </a:r>
          </a:p>
          <a:p>
            <a:endParaRPr sz="2200"/>
          </a:p>
          <a:p>
            <a:r>
              <a:rPr sz="2600"/>
              <a:t>Версия вычисляется автоматически по SemVer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Полная картина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Разработчик → feature-ветка → Pull Request</a:t>
            </a:r>
          </a:p>
          <a:p>
            <a:r>
              <a:rPr sz="2600"/>
              <a:t>PR → код-ревью → merge в main</a:t>
            </a:r>
          </a:p>
          <a:p>
            <a:r>
              <a:rPr sz="2600"/>
              <a:t>main → CI (тесты + линтер) → ✅</a:t>
            </a:r>
          </a:p>
          <a:p>
            <a:r>
              <a:rPr sz="2600"/>
              <a:t>Тег v1.2.0 → GitHub Actions → Release</a:t>
            </a:r>
          </a:p>
          <a:p>
            <a:endParaRPr sz="2600"/>
          </a:p>
          <a:p>
            <a:r>
              <a:rPr sz="2600"/>
              <a:t>Всё автоматизировано, минимум ручной работы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Групповое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/>
              <a:t>Задание 2: «Релизный цикл и тип бюджетирования»</a:t>
            </a:r>
          </a:p>
          <a:p>
            <a:endParaRPr sz="2600"/>
          </a:p>
          <a:p>
            <a:r>
              <a:rPr sz="2600"/>
              <a:t>Презентация 5–7 слайдов:</a:t>
            </a:r>
          </a:p>
          <a:p>
            <a:pPr lvl="1"/>
            <a:r>
              <a:rPr sz="2200"/>
              <a:t>Модель релизного цикла для вашего проекта</a:t>
            </a:r>
          </a:p>
          <a:p>
            <a:pPr lvl="1"/>
            <a:r>
              <a:rPr sz="2200"/>
              <a:t>Версионирование — как применяете</a:t>
            </a:r>
          </a:p>
          <a:p>
            <a:pPr lvl="1"/>
            <a:r>
              <a:rPr sz="2200"/>
              <a:t>Схема пути от коммита до релиза</a:t>
            </a:r>
          </a:p>
          <a:p>
            <a:pPr lvl="1"/>
            <a:r>
              <a:rPr sz="2200"/>
              <a:t>Тип бюджетирования и примерная смета</a:t>
            </a:r>
          </a:p>
          <a:p>
            <a:pPr lvl="1"/>
            <a:r>
              <a:rPr sz="2200"/>
              <a:t>Риски и выводы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815</Words>
  <Application>Microsoft Macintosh PowerPoint</Application>
  <PresentationFormat>Широкоэкранный</PresentationFormat>
  <Paragraphs>151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Тема Office 2013 – 2022</vt:lpstr>
      <vt:lpstr>Управление проектами</vt:lpstr>
      <vt:lpstr>План</vt:lpstr>
      <vt:lpstr>На прошлой паре</vt:lpstr>
      <vt:lpstr>Релизные циклы</vt:lpstr>
      <vt:lpstr>Что такое релизный цикл?</vt:lpstr>
      <vt:lpstr>Модели релизов</vt:lpstr>
      <vt:lpstr>А какую модель выбрать?</vt:lpstr>
      <vt:lpstr>Как релизят большие компании?</vt:lpstr>
      <vt:lpstr>Версионирование</vt:lpstr>
      <vt:lpstr>Семантическое версионирование (SemVer)</vt:lpstr>
      <vt:lpstr>SemVer — примеры из жизни</vt:lpstr>
      <vt:lpstr>Git-ветвление</vt:lpstr>
      <vt:lpstr>Git Flow</vt:lpstr>
      <vt:lpstr>GitHub Flow (упрощённый)</vt:lpstr>
      <vt:lpstr>Этапы: от коммита до релиза</vt:lpstr>
      <vt:lpstr>CI/CD</vt:lpstr>
      <vt:lpstr>CI/CD — что это?</vt:lpstr>
      <vt:lpstr>GitHub Actions — как работает</vt:lpstr>
      <vt:lpstr>Пример: CI-пайплайн</vt:lpstr>
      <vt:lpstr>Пример: автоматический релиз</vt:lpstr>
      <vt:lpstr>Пример: Release Drafter</vt:lpstr>
      <vt:lpstr>Полная картина</vt:lpstr>
      <vt:lpstr>Групповое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проектами</dc:title>
  <dc:creator>fj975</dc:creator>
  <cp:lastModifiedBy>fj975</cp:lastModifiedBy>
  <cp:revision>11</cp:revision>
  <dcterms:created xsi:type="dcterms:W3CDTF">2025-03-15T01:26:25Z</dcterms:created>
  <dcterms:modified xsi:type="dcterms:W3CDTF">2026-03-14T06:44:25Z</dcterms:modified>
</cp:coreProperties>
</file>