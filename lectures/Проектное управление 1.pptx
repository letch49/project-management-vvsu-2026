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59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3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2" r:id="rId36"/>
    <p:sldId id="294" r:id="rId3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6"/>
    <p:restoredTop sz="94626"/>
  </p:normalViewPr>
  <p:slideViewPr>
    <p:cSldViewPr snapToGrid="0">
      <p:cViewPr>
        <p:scale>
          <a:sx n="100" d="100"/>
          <a:sy n="100" d="100"/>
        </p:scale>
        <p:origin x="154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27207-C50C-A0FC-07FF-D5FA9B5C0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A887D8-0E29-38FD-B993-FE26B7DF4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3E9655-44D0-233D-0A38-F807F5C46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AD69D3-F213-9AE7-11D8-977E5BFA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28156F-72F6-498F-86CD-D0C5A76A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4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9B565-EB8A-341C-070A-CF5BBE9D8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95A170-3F8B-6C8F-B8D2-3499FA33D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8F2001-B69B-F3EC-882B-EA284AB4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FDCD7D-7A79-9599-9DF2-EDB2B5EA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E9308B-CAF6-8022-FE1D-C9DAED6A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49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3C0DF-A02D-5F13-383E-CCF62EBC4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1DCCC3F-C685-5836-8DB8-4E71F1118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9812ED-271A-DF02-4D7F-1163B12AA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D2C188-94BC-182B-D9C0-B6248024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9B0019-4811-2EDC-8DA8-67749D96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429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46F59-E9C9-0286-BD87-E847981C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F4AB4-18C7-51A2-6765-1D8883566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523000D-FA7B-FB7B-4957-CC1208D1A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262794-8DFE-BD6B-24FA-BE60FB93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BB6BC45-F10F-69A1-0810-EFACDFFC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C3D7F7-9E3F-E474-F335-82711A589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56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561331-3D95-8ACB-7328-6EAED27B3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16A6C7-ED6A-499C-DECA-F03856AE5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1FA615D-15B4-F075-46CE-A64EF3326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44FD5F-662E-CCDA-4391-E38311B38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F7D24B7-C6CC-6367-B785-2AC476555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36E76FE-87B3-2C77-E123-00EAC4F84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66A4D37-44A7-3256-BDEC-3A874E7B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1CCDB75-0E17-4EA7-CADA-FC71BCB3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50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68FBE-A321-FB5E-3831-E4DFC716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CAA6CE-7F44-053B-01DB-870C9E887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3044E5-C538-4F5D-7E3B-93E6E84F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5E8EE82-AA44-A05B-083C-7A38F748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73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9D0696-1F3A-3EF5-5992-0D1A480E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75EC045-ED12-907A-54D6-3A186F01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6CEAC0-E0EF-8483-ED8B-2A4C6DD5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860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65867-E694-AC5F-56A7-E70600DDA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9F917-5C58-D407-C6E2-483EA7A12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665EDD-75B6-C44E-A861-F5716F9E3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6D68D0-D0F4-A098-C464-3FA9B395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AED212-29E5-EC9A-3270-1974CEA4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02C6F5-0136-AC1B-1BAE-CD0FF8BB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44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D565D-F806-0118-6CA7-D83AD6A8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7D92A0-E396-9068-FCB4-0E0A21CAA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B5EA9D-DF24-5377-80E9-074BB53E4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57DD71-31E2-6733-9B5D-EE83E160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400767-D055-583A-1C81-00DAA6971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885EFF-A7AB-A15C-1912-7EEB868C2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59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3147C-062E-82FC-D5F0-D79D8916C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DEA3BE-7757-854B-227C-AD855A5A8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E859E-AF8C-94B6-4FD0-E525E872A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28CA09-6AC5-B3B0-DAF4-87991128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FD88E6-5BCE-125C-EE93-19B4B62DD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279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36AF3F-5087-ACC4-0B51-1166D440E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A3679A-32AA-F40B-993C-0903FBA47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C272E7-B95C-22F4-D079-DAEAAC41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9AD9AD-3F2E-A633-34C3-543EF238D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76A53F-411F-29B7-C9E0-5473BDE6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61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AA39E-80D7-806E-0A23-E3EA13EB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2ECC55-908C-2340-EEED-702023AE5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4BB117-A5C4-5B56-693C-BD1D590A6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4D4E3-ABDE-F346-B33C-4C8C1969D2B4}" type="datetimeFigureOut">
              <a:rPr lang="ru-RU" smtClean="0"/>
              <a:t>21.02.2026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0D880-2AA6-1386-D38A-44F934A01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AA5B76-5184-DB59-7A18-04FBE8CC8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03504-719F-B64A-90DA-B8B1B4C5D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07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43B86B-CD02-0C08-1903-C749D95BB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Управление проектами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9399919-A155-A796-BFA6-A03771F111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Занятие 1</a:t>
            </a:r>
            <a:r>
              <a:rPr lang="en-US" dirty="0"/>
              <a:t>. </a:t>
            </a:r>
            <a:r>
              <a:rPr lang="ru-RU" dirty="0"/>
              <a:t>Введение в проектное управление</a:t>
            </a:r>
          </a:p>
        </p:txBody>
      </p:sp>
    </p:spTree>
    <p:extLst>
      <p:ext uri="{BB962C8B-B14F-4D97-AF65-F5344CB8AC3E}">
        <p14:creationId xmlns:p14="http://schemas.microsoft.com/office/powerpoint/2010/main" val="1882066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58B913-E182-0859-E3C6-9E4B24EE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максимум на сегодня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AD4938-808F-C657-3A2D-64CDB628F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Что такое проект и как им управлять</a:t>
            </a:r>
          </a:p>
          <a:p>
            <a:r>
              <a:rPr lang="ru-RU" dirty="0"/>
              <a:t>Какие этапы существуют и что делаем с ними (с примером)</a:t>
            </a:r>
          </a:p>
          <a:p>
            <a:r>
              <a:rPr lang="ru-RU" dirty="0"/>
              <a:t>Типы проектного управления (методологии)</a:t>
            </a:r>
          </a:p>
          <a:p>
            <a:r>
              <a:rPr lang="ru-RU" dirty="0"/>
              <a:t>Групповое задание</a:t>
            </a:r>
          </a:p>
        </p:txBody>
      </p:sp>
    </p:spTree>
    <p:extLst>
      <p:ext uri="{BB962C8B-B14F-4D97-AF65-F5344CB8AC3E}">
        <p14:creationId xmlns:p14="http://schemas.microsoft.com/office/powerpoint/2010/main" val="195152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D221E9-5ECB-714E-44FF-76DF0D53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есть проект и как им управлять?</a:t>
            </a:r>
          </a:p>
        </p:txBody>
      </p:sp>
      <p:pic>
        <p:nvPicPr>
          <p:cNvPr id="1028" name="Picture 4" descr="Pin page">
            <a:extLst>
              <a:ext uri="{FF2B5EF4-FFF2-40B4-BE49-F238E27FC236}">
                <a16:creationId xmlns:a16="http://schemas.microsoft.com/office/drawing/2014/main" id="{1F2EF68F-44CD-95F9-1A0C-FEC9C089AA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829594"/>
            <a:ext cx="6248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341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86342-DA41-F782-73F3-679E1A3F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 это</a:t>
            </a:r>
            <a:r>
              <a:rPr lang="en-US" dirty="0"/>
              <a:t>…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7D2C02-C6E1-DCEE-34AC-E18CB620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Проект — это комплекс действий, направленных на получение запланированного результата с учетом установленных сроков и ограниченных ресурсов.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Что имеем в проекте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r>
              <a:rPr lang="ru-RU" dirty="0"/>
              <a:t>Цель</a:t>
            </a:r>
          </a:p>
          <a:p>
            <a:pPr marL="514350" indent="-514350">
              <a:buAutoNum type="arabicPeriod"/>
            </a:pPr>
            <a:r>
              <a:rPr lang="ru-RU" dirty="0"/>
              <a:t>Сроки</a:t>
            </a:r>
          </a:p>
          <a:p>
            <a:pPr marL="514350" indent="-514350">
              <a:buAutoNum type="arabicPeriod"/>
            </a:pPr>
            <a:r>
              <a:rPr lang="ru-RU" dirty="0"/>
              <a:t>Ресурсы</a:t>
            </a:r>
          </a:p>
        </p:txBody>
      </p:sp>
    </p:spTree>
    <p:extLst>
      <p:ext uri="{BB962C8B-B14F-4D97-AF65-F5344CB8AC3E}">
        <p14:creationId xmlns:p14="http://schemas.microsoft.com/office/powerpoint/2010/main" val="3228698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86342-DA41-F782-73F3-679E1A3F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Тогда проектное управление это</a:t>
            </a:r>
            <a:r>
              <a:rPr lang="en-US" dirty="0"/>
              <a:t>…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7D2C02-C6E1-DCEE-34AC-E18CB6208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Проектное управление — это совокупность процессов и практик, направленных на достижение целей проекта в заданные сроки, бюджет и качество.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Основные задачи: сформулировать цель проекта, распределить задачи и ресурсы, контролировать ход работ и в итоге закрыть проект с нужным результатом.</a:t>
            </a:r>
          </a:p>
        </p:txBody>
      </p:sp>
    </p:spTree>
    <p:extLst>
      <p:ext uri="{BB962C8B-B14F-4D97-AF65-F5344CB8AC3E}">
        <p14:creationId xmlns:p14="http://schemas.microsoft.com/office/powerpoint/2010/main" val="1421735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BF440-CFBB-A682-4710-B963CAC63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Стадии проектного управления</a:t>
            </a:r>
          </a:p>
        </p:txBody>
      </p:sp>
      <p:pic>
        <p:nvPicPr>
          <p:cNvPr id="4" name="Picture 2" descr="Управление проектами: ключевые методологии, модели управления и их  практическое применение">
            <a:extLst>
              <a:ext uri="{FF2B5EF4-FFF2-40B4-BE49-F238E27FC236}">
                <a16:creationId xmlns:a16="http://schemas.microsoft.com/office/drawing/2014/main" id="{3FB9A350-E61D-4ADD-863C-8D48A6CE26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228" y="1825625"/>
            <a:ext cx="891954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2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1 – инициация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Суть этого этапа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Определить общую идею</a:t>
            </a:r>
            <a:r>
              <a:rPr lang="en-US" dirty="0"/>
              <a:t>/</a:t>
            </a:r>
            <a:r>
              <a:rPr lang="ru-RU" dirty="0"/>
              <a:t>концепцию</a:t>
            </a:r>
            <a:r>
              <a:rPr lang="en-US" dirty="0"/>
              <a:t>/</a:t>
            </a:r>
            <a:r>
              <a:rPr lang="ru-RU" dirty="0"/>
              <a:t>цели</a:t>
            </a:r>
            <a:r>
              <a:rPr lang="en-US" dirty="0"/>
              <a:t>/</a:t>
            </a:r>
            <a:r>
              <a:rPr lang="ru-RU" dirty="0"/>
              <a:t>участников</a:t>
            </a:r>
          </a:p>
          <a:p>
            <a:pPr marL="514350" indent="-514350">
              <a:buAutoNum type="arabicPeriod"/>
            </a:pPr>
            <a:r>
              <a:rPr lang="ru-RU" dirty="0"/>
              <a:t>Формируем первоначальные требования к проекту</a:t>
            </a:r>
          </a:p>
          <a:p>
            <a:pPr marL="514350" indent="-514350">
              <a:buAutoNum type="arabicPeriod"/>
            </a:pPr>
            <a:r>
              <a:rPr lang="ru-RU" dirty="0"/>
              <a:t>Оценка целесообразности проекта</a:t>
            </a:r>
          </a:p>
          <a:p>
            <a:pPr marL="514350" indent="-514350">
              <a:buAutoNum type="arabicPeriod"/>
            </a:pPr>
            <a:r>
              <a:rPr lang="ru-RU" dirty="0"/>
              <a:t>Определение ресурсов</a:t>
            </a:r>
          </a:p>
          <a:p>
            <a:pPr marL="514350" indent="-514350">
              <a:buAutoNum type="arabicPeriod"/>
            </a:pP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206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 – управление командой проекта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Суть этапа заключается в определении ресурсов и распределения обязанностей</a:t>
            </a:r>
            <a:r>
              <a:rPr lang="en-US" dirty="0"/>
              <a:t>, </a:t>
            </a:r>
            <a:r>
              <a:rPr lang="ru-RU" dirty="0"/>
              <a:t>основной </a:t>
            </a:r>
            <a:r>
              <a:rPr lang="ru-RU" dirty="0" err="1"/>
              <a:t>пулл</a:t>
            </a:r>
            <a:r>
              <a:rPr lang="ru-RU" dirty="0"/>
              <a:t> вопросов</a:t>
            </a:r>
            <a:r>
              <a:rPr lang="en-US" dirty="0"/>
              <a:t>, </a:t>
            </a:r>
            <a:r>
              <a:rPr lang="ru-RU" dirty="0"/>
              <a:t>который закрывает этот этап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Кто управляет проектом</a:t>
            </a:r>
            <a:r>
              <a:rPr lang="en-US" dirty="0"/>
              <a:t>? </a:t>
            </a:r>
            <a:r>
              <a:rPr lang="ru-RU" dirty="0"/>
              <a:t>Кто выполняет задачи</a:t>
            </a:r>
            <a:r>
              <a:rPr lang="en-US" dirty="0"/>
              <a:t>? </a:t>
            </a:r>
            <a:r>
              <a:rPr lang="ru-RU" dirty="0"/>
              <a:t>Кто тестирует (определение ролей</a:t>
            </a:r>
            <a:r>
              <a:rPr lang="en-US" dirty="0"/>
              <a:t>/</a:t>
            </a:r>
            <a:r>
              <a:rPr lang="ru-RU" dirty="0"/>
              <a:t>распределение обязанностей)</a:t>
            </a:r>
          </a:p>
          <a:p>
            <a:pPr marL="514350" indent="-514350">
              <a:buAutoNum type="arabicPeriod"/>
            </a:pPr>
            <a:r>
              <a:rPr lang="ru-RU" dirty="0"/>
              <a:t>Организация рабочего процесса (собрания</a:t>
            </a:r>
            <a:r>
              <a:rPr lang="en-US" dirty="0"/>
              <a:t>/</a:t>
            </a:r>
            <a:r>
              <a:rPr lang="ru-RU" dirty="0"/>
              <a:t>коммуникация </a:t>
            </a:r>
            <a:r>
              <a:rPr lang="ru-RU" dirty="0" err="1"/>
              <a:t>итп</a:t>
            </a:r>
            <a:r>
              <a:rPr lang="ru-RU" dirty="0"/>
              <a:t>)</a:t>
            </a:r>
          </a:p>
          <a:p>
            <a:pPr marL="514350" indent="-514350">
              <a:buAutoNum type="arabicPeriod"/>
            </a:pPr>
            <a:r>
              <a:rPr lang="ru-RU" dirty="0"/>
              <a:t>Что будем использовать для решения задач</a:t>
            </a:r>
            <a:r>
              <a:rPr lang="en-US" dirty="0"/>
              <a:t>?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2318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3 – контроль стадий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этапом этапе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Проверка прогресса работ (задачи выполняются вовремя и в рамках бюджета)</a:t>
            </a:r>
          </a:p>
          <a:p>
            <a:pPr marL="514350" indent="-514350">
              <a:buAutoNum type="arabicPeriod"/>
            </a:pPr>
            <a:r>
              <a:rPr lang="ru-RU" dirty="0"/>
              <a:t>Риск менеджмент</a:t>
            </a:r>
            <a:r>
              <a:rPr lang="en-US" dirty="0"/>
              <a:t>, </a:t>
            </a:r>
            <a:r>
              <a:rPr lang="ru-RU" dirty="0"/>
              <a:t>контроль плана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7779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4 – переход на следующий </a:t>
            </a:r>
            <a:r>
              <a:rPr lang="ru-RU" strike="sngStrike" dirty="0"/>
              <a:t>уровень</a:t>
            </a:r>
            <a:r>
              <a:rPr lang="ru-RU" dirty="0"/>
              <a:t> стадию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данном этапе определяется возможность перехода на следующую стадию проекта (тут зависит от модели проектного управления)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Этапы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Закрытие </a:t>
            </a:r>
            <a:r>
              <a:rPr lang="ru-RU" dirty="0" err="1"/>
              <a:t>майлстоуна</a:t>
            </a:r>
            <a:r>
              <a:rPr lang="ru-RU" dirty="0"/>
              <a:t> (плана или набора задач)</a:t>
            </a:r>
          </a:p>
          <a:p>
            <a:pPr marL="514350" indent="-514350">
              <a:buAutoNum type="arabicPeriod"/>
            </a:pPr>
            <a:r>
              <a:rPr lang="ru-RU" dirty="0"/>
              <a:t>В зависимости от методологии переход на следующую стадию с новым началом цикла работ или завершение стадии в целом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67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5 – закрытие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Включается следующее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Подведение итогов (проверка работ</a:t>
            </a:r>
            <a:r>
              <a:rPr lang="en-US" dirty="0"/>
              <a:t>, </a:t>
            </a:r>
            <a:r>
              <a:rPr lang="ru-RU" dirty="0"/>
              <a:t>финальное тестирование)</a:t>
            </a:r>
          </a:p>
          <a:p>
            <a:pPr marL="514350" indent="-514350">
              <a:buAutoNum type="arabicPeriod"/>
            </a:pPr>
            <a:r>
              <a:rPr lang="ru-RU" dirty="0"/>
              <a:t>Введение в эксплуатацию</a:t>
            </a:r>
          </a:p>
          <a:p>
            <a:pPr marL="514350" indent="-514350">
              <a:buAutoNum type="arabicPeriod"/>
            </a:pPr>
            <a:r>
              <a:rPr lang="ru-RU" dirty="0"/>
              <a:t>Анализ и «уроки» для следующих проектов </a:t>
            </a:r>
          </a:p>
        </p:txBody>
      </p:sp>
    </p:spTree>
    <p:extLst>
      <p:ext uri="{BB962C8B-B14F-4D97-AF65-F5344CB8AC3E}">
        <p14:creationId xmlns:p14="http://schemas.microsoft.com/office/powerpoint/2010/main" val="3350141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кейс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Глобальная цель – улучшение поиска на сайте аптека25</a:t>
            </a:r>
            <a:r>
              <a:rPr lang="en-US" dirty="0"/>
              <a:t>.</a:t>
            </a:r>
            <a:r>
              <a:rPr lang="ru-RU" dirty="0" err="1"/>
              <a:t>рф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Этап 1 – определение проблемы</a:t>
            </a:r>
            <a:r>
              <a:rPr lang="en-US" dirty="0"/>
              <a:t>, </a:t>
            </a:r>
            <a:r>
              <a:rPr lang="ru-RU" dirty="0"/>
              <a:t>цель</a:t>
            </a:r>
            <a:r>
              <a:rPr lang="en-US" dirty="0"/>
              <a:t>, </a:t>
            </a:r>
            <a:r>
              <a:rPr lang="ru-RU" dirty="0"/>
              <a:t>требования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Проблема</a:t>
            </a:r>
            <a:r>
              <a:rPr lang="en-US" dirty="0"/>
              <a:t>: </a:t>
            </a:r>
            <a:r>
              <a:rPr lang="ru-RU" dirty="0"/>
              <a:t>поиск товаров работает некорректно (требования в данном случае и есть перечисление проблем)</a:t>
            </a:r>
          </a:p>
          <a:p>
            <a:pPr marL="514350" indent="-514350">
              <a:buAutoNum type="arabicPeriod"/>
            </a:pPr>
            <a:r>
              <a:rPr lang="ru-RU" dirty="0"/>
              <a:t>Поиск чувствителен к ошибке (</a:t>
            </a:r>
            <a:r>
              <a:rPr lang="ru-RU" dirty="0" err="1"/>
              <a:t>нурафен</a:t>
            </a:r>
            <a:r>
              <a:rPr lang="ru-RU" dirty="0"/>
              <a:t> выдает 0 товаров)</a:t>
            </a:r>
          </a:p>
          <a:p>
            <a:pPr marL="514350" indent="-514350">
              <a:buAutoNum type="arabicPeriod"/>
            </a:pPr>
            <a:r>
              <a:rPr lang="ru-RU" dirty="0"/>
              <a:t>Ввод на английской раскладке не работает</a:t>
            </a:r>
          </a:p>
          <a:p>
            <a:pPr marL="514350" indent="-514350">
              <a:buAutoNum type="arabicPeriod"/>
            </a:pPr>
            <a:r>
              <a:rPr lang="ru-RU" dirty="0"/>
              <a:t>Теряем деньги на ошибках (ВИТАМИН </a:t>
            </a:r>
            <a:r>
              <a:rPr lang="en-US" dirty="0"/>
              <a:t>D </a:t>
            </a:r>
            <a:r>
              <a:rPr lang="ru-RU" dirty="0"/>
              <a:t>не ищется!!!!)</a:t>
            </a:r>
          </a:p>
          <a:p>
            <a:pPr marL="514350" indent="-514350">
              <a:buAutoNum type="arabicPeriod"/>
            </a:pPr>
            <a:endParaRPr lang="ru-RU" dirty="0"/>
          </a:p>
          <a:p>
            <a:pPr marL="0" indent="0">
              <a:buNone/>
            </a:pPr>
            <a:r>
              <a:rPr lang="ru-RU" dirty="0"/>
              <a:t>Цель</a:t>
            </a:r>
            <a:r>
              <a:rPr lang="en-US" dirty="0"/>
              <a:t>: </a:t>
            </a:r>
            <a:r>
              <a:rPr lang="ru-RU" dirty="0"/>
              <a:t>исправить сопутствующие проблемы</a:t>
            </a:r>
            <a:r>
              <a:rPr lang="en-US" dirty="0"/>
              <a:t>, </a:t>
            </a:r>
            <a:r>
              <a:rPr lang="ru-RU" dirty="0"/>
              <a:t>протестировать гипотезу что исправления улучшат продажи</a:t>
            </a:r>
          </a:p>
        </p:txBody>
      </p:sp>
    </p:spTree>
    <p:extLst>
      <p:ext uri="{BB962C8B-B14F-4D97-AF65-F5344CB8AC3E}">
        <p14:creationId xmlns:p14="http://schemas.microsoft.com/office/powerpoint/2010/main" val="1388927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кейс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Глобальная цель – улучшение поиска на сайте аптека25</a:t>
            </a:r>
            <a:r>
              <a:rPr lang="en-US" dirty="0"/>
              <a:t>.</a:t>
            </a:r>
            <a:r>
              <a:rPr lang="ru-RU" dirty="0" err="1"/>
              <a:t>рф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Этап 2 – как мы будем это делать</a:t>
            </a:r>
            <a:r>
              <a:rPr lang="en-US" dirty="0"/>
              <a:t>?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Этапы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Определим с помощью каких инструментов будем улучшать поиск (мы решили взять стороннее решение и подключиться к нему)</a:t>
            </a:r>
          </a:p>
          <a:p>
            <a:pPr marL="514350" indent="-514350">
              <a:buAutoNum type="arabicPeriod"/>
            </a:pPr>
            <a:r>
              <a:rPr lang="ru-RU" dirty="0"/>
              <a:t>Поставим задачи и распределяем обязанности кто и как будет делать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6310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2 – определение задач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1F598133-6AF7-CBE0-A63A-F56FFD50B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2584" y="1435396"/>
            <a:ext cx="7700973" cy="539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17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Все еще этап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Определяем сроки</a:t>
            </a:r>
          </a:p>
          <a:p>
            <a:pPr marL="0" indent="0">
              <a:buNone/>
            </a:pPr>
            <a:r>
              <a:rPr lang="ru-RU" dirty="0"/>
              <a:t>Задача 1 – реализация трекинга (3 дня на </a:t>
            </a:r>
            <a:r>
              <a:rPr lang="ru-RU" dirty="0" err="1"/>
              <a:t>бекенд</a:t>
            </a:r>
            <a:r>
              <a:rPr lang="en-US" dirty="0"/>
              <a:t>, </a:t>
            </a:r>
            <a:r>
              <a:rPr lang="ru-RU" dirty="0"/>
              <a:t>2 дня на фронт)</a:t>
            </a:r>
          </a:p>
          <a:p>
            <a:pPr marL="0" indent="0">
              <a:buNone/>
            </a:pPr>
            <a:r>
              <a:rPr lang="ru-RU" dirty="0"/>
              <a:t>Задача 2 – реализация поиска (4 дня </a:t>
            </a:r>
            <a:r>
              <a:rPr lang="ru-RU" dirty="0" err="1"/>
              <a:t>бекенда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ru-RU" dirty="0"/>
              <a:t>Задача 3 – составление </a:t>
            </a:r>
            <a:r>
              <a:rPr lang="ru-RU" dirty="0" err="1"/>
              <a:t>фидов</a:t>
            </a:r>
            <a:r>
              <a:rPr lang="ru-RU" dirty="0"/>
              <a:t> для </a:t>
            </a:r>
            <a:r>
              <a:rPr lang="ru-RU" dirty="0" err="1"/>
              <a:t>автообновления</a:t>
            </a:r>
            <a:r>
              <a:rPr lang="ru-RU" dirty="0"/>
              <a:t> поисковых запросов (4 дня </a:t>
            </a:r>
            <a:r>
              <a:rPr lang="ru-RU" dirty="0" err="1"/>
              <a:t>бекендар</a:t>
            </a:r>
            <a:r>
              <a:rPr lang="ru-RU" dirty="0"/>
              <a:t>)</a:t>
            </a:r>
          </a:p>
          <a:p>
            <a:pPr marL="0" indent="0">
              <a:buNone/>
            </a:pPr>
            <a:r>
              <a:rPr lang="en-US" dirty="0"/>
              <a:t>….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Определяем деньги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11 </a:t>
            </a:r>
            <a:r>
              <a:rPr lang="ru-RU" dirty="0"/>
              <a:t>дней </a:t>
            </a:r>
            <a:r>
              <a:rPr lang="ru-RU" dirty="0" err="1"/>
              <a:t>бекендера</a:t>
            </a:r>
            <a:r>
              <a:rPr lang="en-US" dirty="0"/>
              <a:t>, </a:t>
            </a:r>
            <a:r>
              <a:rPr lang="ru-RU" dirty="0"/>
              <a:t>2 дня </a:t>
            </a:r>
            <a:r>
              <a:rPr lang="ru-RU" dirty="0" err="1"/>
              <a:t>фронтендера</a:t>
            </a:r>
            <a:r>
              <a:rPr lang="en-US" dirty="0"/>
              <a:t>, </a:t>
            </a:r>
            <a:r>
              <a:rPr lang="ru-RU" dirty="0"/>
              <a:t>контроль от проектного менеджера (условно 4 дня)</a:t>
            </a:r>
            <a:r>
              <a:rPr lang="en-US" dirty="0"/>
              <a:t>,</a:t>
            </a:r>
            <a:r>
              <a:rPr lang="ru-RU" dirty="0"/>
              <a:t> стоимость интеграции решения </a:t>
            </a:r>
            <a:r>
              <a:rPr lang="en-US" dirty="0"/>
              <a:t>~ 250</a:t>
            </a:r>
            <a:r>
              <a:rPr lang="ru-RU" dirty="0"/>
              <a:t>к за реализацию + помесячная оплата решения</a:t>
            </a:r>
            <a:r>
              <a:rPr lang="en-US" dirty="0"/>
              <a:t> </a:t>
            </a:r>
            <a:r>
              <a:rPr lang="ru-RU" dirty="0"/>
              <a:t>100к</a:t>
            </a:r>
          </a:p>
        </p:txBody>
      </p:sp>
    </p:spTree>
    <p:extLst>
      <p:ext uri="{BB962C8B-B14F-4D97-AF65-F5344CB8AC3E}">
        <p14:creationId xmlns:p14="http://schemas.microsoft.com/office/powerpoint/2010/main" val="4087287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3 – контроль сроков и бюджетов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6581" y="2624909"/>
            <a:ext cx="7665189" cy="34739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3074" name="Picture 2" descr="Мемы Собака в огне пьет чай 28 фото">
            <a:extLst>
              <a:ext uri="{FF2B5EF4-FFF2-40B4-BE49-F238E27FC236}">
                <a16:creationId xmlns:a16="http://schemas.microsoft.com/office/drawing/2014/main" id="{46FB070E-8CA0-30D9-7BC2-DF61F6E76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187" y="1400715"/>
            <a:ext cx="6097626" cy="509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073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4 – переход на следующую стадию или закрытие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3BE728-A002-4172-0AD9-94A427626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все задачи </a:t>
            </a:r>
            <a:r>
              <a:rPr lang="ru-RU" dirty="0" err="1"/>
              <a:t>выполненны</a:t>
            </a:r>
            <a:r>
              <a:rPr lang="en-US" dirty="0"/>
              <a:t>, </a:t>
            </a:r>
            <a:r>
              <a:rPr lang="ru-RU" dirty="0"/>
              <a:t>багов не нашли</a:t>
            </a:r>
            <a:r>
              <a:rPr lang="en-US" dirty="0"/>
              <a:t>, </a:t>
            </a:r>
            <a:r>
              <a:rPr lang="ru-RU" dirty="0"/>
              <a:t>готовы к внедрению – переходим к закрытию проекта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нашли баги</a:t>
            </a:r>
            <a:r>
              <a:rPr lang="en-US" dirty="0"/>
              <a:t>, </a:t>
            </a:r>
            <a:r>
              <a:rPr lang="ru-RU" dirty="0"/>
              <a:t>Олег не доделал поиск на фронте</a:t>
            </a:r>
            <a:r>
              <a:rPr lang="en-US" dirty="0"/>
              <a:t>, </a:t>
            </a:r>
            <a:r>
              <a:rPr lang="ru-RU" dirty="0"/>
              <a:t>подсказки перестали работать – повторяем всю цепочку этапов (по правде зависит от </a:t>
            </a:r>
            <a:r>
              <a:rPr lang="ru-RU" dirty="0" err="1"/>
              <a:t>метадологии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02978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5 – закрываемся и подводим итоги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03100E9-7E7C-E906-195D-F66CFB78B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0278" y="1825625"/>
            <a:ext cx="84114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Этап 5 – закрываемся и подводим итоги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Результат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ru-RU" dirty="0"/>
              <a:t>Потратили (условно) 1 месяц и 500 тысяч для реализации поиска</a:t>
            </a:r>
          </a:p>
          <a:p>
            <a:pPr marL="514350" indent="-514350">
              <a:buAutoNum type="arabicPeriod"/>
            </a:pPr>
            <a:r>
              <a:rPr lang="ru-RU" dirty="0"/>
              <a:t>Статистика говорит</a:t>
            </a:r>
            <a:r>
              <a:rPr lang="en-US" dirty="0"/>
              <a:t>, </a:t>
            </a:r>
            <a:r>
              <a:rPr lang="ru-RU" dirty="0"/>
              <a:t>что благодаря поиску оборот денег увеличился на 1млн в день</a:t>
            </a:r>
          </a:p>
          <a:p>
            <a:pPr marL="514350" indent="-514350">
              <a:buAutoNum type="arabicPeriod"/>
            </a:pPr>
            <a:r>
              <a:rPr lang="ru-RU" dirty="0"/>
              <a:t>Совершили пару ошибок в согласовании</a:t>
            </a:r>
            <a:r>
              <a:rPr lang="en-US" dirty="0"/>
              <a:t>, </a:t>
            </a:r>
            <a:r>
              <a:rPr lang="ru-RU" dirty="0"/>
              <a:t>поняли как нужно делать в следующий раз</a:t>
            </a:r>
          </a:p>
          <a:p>
            <a:pPr marL="514350" indent="-514350">
              <a:buAutoNum type="arabicPeriod"/>
            </a:pPr>
            <a:r>
              <a:rPr lang="ru-RU" dirty="0"/>
              <a:t>Внедрение прошло успешно!</a:t>
            </a:r>
          </a:p>
        </p:txBody>
      </p:sp>
    </p:spTree>
    <p:extLst>
      <p:ext uri="{BB962C8B-B14F-4D97-AF65-F5344CB8AC3E}">
        <p14:creationId xmlns:p14="http://schemas.microsoft.com/office/powerpoint/2010/main" val="2453137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Методологии проектного управления</a:t>
            </a:r>
          </a:p>
        </p:txBody>
      </p:sp>
      <p:pic>
        <p:nvPicPr>
          <p:cNvPr id="5124" name="Picture 4" descr="Метод быстрого прохода в управлении проектами. Редкий успешный кейс">
            <a:extLst>
              <a:ext uri="{FF2B5EF4-FFF2-40B4-BE49-F238E27FC236}">
                <a16:creationId xmlns:a16="http://schemas.microsoft.com/office/drawing/2014/main" id="{27785EE6-E5F0-6E26-C25E-057639EC61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277" y="1825625"/>
            <a:ext cx="616944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279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Основные методы</a:t>
            </a:r>
          </a:p>
          <a:p>
            <a:pPr marL="514350" indent="-514350">
              <a:buAutoNum type="arabicPeriod"/>
            </a:pPr>
            <a:r>
              <a:rPr lang="en-US" dirty="0"/>
              <a:t>Agile - </a:t>
            </a:r>
            <a:r>
              <a:rPr lang="ru-RU" dirty="0"/>
              <a:t>Гибкий подход к разработке/работе над проектом. Короткие итерации, быстрая обратная связь, адаптивность к изменениям.</a:t>
            </a:r>
          </a:p>
          <a:p>
            <a:pPr marL="514350" indent="-514350">
              <a:buAutoNum type="arabicPeriod"/>
            </a:pPr>
            <a:r>
              <a:rPr lang="en-US" dirty="0"/>
              <a:t>Scrum - </a:t>
            </a:r>
            <a:r>
              <a:rPr lang="ru-RU" dirty="0"/>
              <a:t>Конкретный фреймворк внутри </a:t>
            </a:r>
            <a:r>
              <a:rPr lang="en" dirty="0"/>
              <a:t>Agile. </a:t>
            </a:r>
            <a:r>
              <a:rPr lang="ru-RU" dirty="0"/>
              <a:t>Делит работу на спринты, фиксированные по времени, с регулярными встречами и </a:t>
            </a:r>
            <a:r>
              <a:rPr lang="ru-RU" dirty="0" err="1"/>
              <a:t>ретроспективами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203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Методологии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Kanban - </a:t>
            </a:r>
            <a:r>
              <a:rPr lang="ru-RU" dirty="0"/>
              <a:t>Визуализация рабочего процесса на доске, оптимизация «потока задач», минимум формальностей.</a:t>
            </a:r>
          </a:p>
          <a:p>
            <a:pPr marL="514350" indent="-514350">
              <a:buAutoNum type="arabicPeriod"/>
            </a:pPr>
            <a:r>
              <a:rPr lang="en" dirty="0"/>
              <a:t>Waterfall (</a:t>
            </a:r>
            <a:r>
              <a:rPr lang="ru-RU" dirty="0"/>
              <a:t>Водопад)</a:t>
            </a:r>
            <a:r>
              <a:rPr lang="en-US" dirty="0"/>
              <a:t> - </a:t>
            </a:r>
            <a:r>
              <a:rPr lang="ru-RU" dirty="0"/>
              <a:t>Классический линейный подход: работа идёт поэтапно (планирование → реализация → тестирование → внедрение) без серьёзных изменений посередине.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1905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Особенности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Гибкость: изменения в требованиях принимаются естественным путём.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Итеративность: проект делится на короткие циклы с постоянной обратной связью.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Коммуникация: тесное взаимодействие между командой и заказчиком.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600" dirty="0"/>
              <a:t>Самоорганизация: команда сама планирует объём задач на каждую итерацию.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169885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– </a:t>
            </a:r>
            <a:r>
              <a:rPr lang="ru-RU" dirty="0"/>
              <a:t>наглядное представление</a:t>
            </a:r>
          </a:p>
        </p:txBody>
      </p:sp>
      <p:pic>
        <p:nvPicPr>
          <p:cNvPr id="6146" name="Picture 2" descr="What Is Agile Methodology? (A Beginner's Guide) [2025] • Asana">
            <a:extLst>
              <a:ext uri="{FF2B5EF4-FFF2-40B4-BE49-F238E27FC236}">
                <a16:creationId xmlns:a16="http://schemas.microsoft.com/office/drawing/2014/main" id="{8DB529EC-E8E6-FD43-1267-4256B528C7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635" y="1825625"/>
            <a:ext cx="562673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392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– </a:t>
            </a:r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507CF-9015-8283-0586-1BBF2D013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Компания: </a:t>
            </a:r>
            <a:r>
              <a:rPr lang="en" sz="2600" i="1" dirty="0"/>
              <a:t>Starbucks</a:t>
            </a:r>
            <a:r>
              <a:rPr lang="en" sz="2600" dirty="0"/>
              <a:t> (</a:t>
            </a:r>
            <a:r>
              <a:rPr lang="ru-RU" sz="2600" dirty="0"/>
              <a:t>пример из реального мира, но не в </a:t>
            </a:r>
            <a:r>
              <a:rPr lang="en" sz="2600" dirty="0"/>
              <a:t>IT)</a:t>
            </a:r>
            <a:endParaRPr lang="ru-RU" sz="2600" dirty="0"/>
          </a:p>
          <a:p>
            <a:pPr marL="0" indent="0">
              <a:buNone/>
            </a:pPr>
            <a:r>
              <a:rPr lang="ru-RU" sz="2600" dirty="0"/>
              <a:t>При разработке новых напитков и маркетинговых кампаний «пилотные релизы» запускают ограниченно и быстро собирают обратную связь.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Если клиенты реагируют положительно, продукт дорабатывают и масштабируют (итеративно).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Итог: </a:t>
            </a:r>
            <a:r>
              <a:rPr lang="en" sz="2600" dirty="0"/>
              <a:t>Agile-</a:t>
            </a:r>
            <a:r>
              <a:rPr lang="ru-RU" sz="2600" dirty="0"/>
              <a:t>подход позволяет экономить время и ресурсы, т.к. компания быстро видит, что «зайдёт» покупателям, а что нет.</a:t>
            </a:r>
          </a:p>
        </p:txBody>
      </p:sp>
    </p:spTree>
    <p:extLst>
      <p:ext uri="{BB962C8B-B14F-4D97-AF65-F5344CB8AC3E}">
        <p14:creationId xmlns:p14="http://schemas.microsoft.com/office/powerpoint/2010/main" val="1527682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– </a:t>
            </a:r>
            <a:r>
              <a:rPr lang="ru-RU" dirty="0"/>
              <a:t>тоже самое что </a:t>
            </a:r>
            <a:r>
              <a:rPr lang="en-US" dirty="0"/>
              <a:t>agile, </a:t>
            </a:r>
            <a:r>
              <a:rPr lang="ru-RU" dirty="0"/>
              <a:t>но</a:t>
            </a:r>
            <a:r>
              <a:rPr lang="en-US" dirty="0"/>
              <a:t>…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Спринты: короткие циклы (1–4 недели) с чёткими целями.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Роли</a:t>
            </a:r>
            <a:r>
              <a:rPr lang="en-US" sz="2600" dirty="0"/>
              <a:t> – </a:t>
            </a:r>
            <a:r>
              <a:rPr lang="ru-RU" sz="2600" dirty="0" err="1"/>
              <a:t>Скрам</a:t>
            </a:r>
            <a:r>
              <a:rPr lang="ru-RU" sz="2600" dirty="0"/>
              <a:t>-мастер, Владелец продукта (</a:t>
            </a:r>
            <a:r>
              <a:rPr lang="en" sz="2600" dirty="0"/>
              <a:t>Product Owner), </a:t>
            </a:r>
            <a:r>
              <a:rPr lang="ru-RU" sz="2600" dirty="0"/>
              <a:t>Команда разработки.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Встречи</a:t>
            </a:r>
            <a:r>
              <a:rPr lang="en-US" sz="2600" dirty="0"/>
              <a:t> – </a:t>
            </a:r>
            <a:r>
              <a:rPr lang="ru-RU" sz="2600" dirty="0"/>
              <a:t>планирование спринта, ежедневные 15-минутные «</a:t>
            </a:r>
            <a:r>
              <a:rPr lang="en" sz="2600" dirty="0"/>
              <a:t>stand-up», </a:t>
            </a:r>
            <a:r>
              <a:rPr lang="ru-RU" sz="2600" dirty="0"/>
              <a:t>демо результатов, ретроспектива.</a:t>
            </a:r>
            <a:endParaRPr lang="en-US" sz="2600" dirty="0"/>
          </a:p>
          <a:p>
            <a:pPr marL="514350" indent="-514350">
              <a:buFont typeface="+mj-lt"/>
              <a:buAutoNum type="arabicPeriod"/>
            </a:pPr>
            <a:r>
              <a:rPr lang="en" sz="2600" dirty="0"/>
              <a:t>Backlog – </a:t>
            </a:r>
            <a:r>
              <a:rPr lang="ru-RU" sz="2600" dirty="0"/>
              <a:t>приоритетный список задач, который поддерживает и обновляет Владелец продукта.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7593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– </a:t>
            </a:r>
            <a:r>
              <a:rPr lang="ru-RU" dirty="0"/>
              <a:t>представление</a:t>
            </a:r>
          </a:p>
        </p:txBody>
      </p:sp>
      <p:pic>
        <p:nvPicPr>
          <p:cNvPr id="8196" name="Picture 4" descr="What is Scrum? | The Agile Journey: A Scrum overview">
            <a:extLst>
              <a:ext uri="{FF2B5EF4-FFF2-40B4-BE49-F238E27FC236}">
                <a16:creationId xmlns:a16="http://schemas.microsoft.com/office/drawing/2014/main" id="{AFFB9DC9-FD24-DD70-8BE8-5281443AF4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13744"/>
            <a:ext cx="7620000" cy="397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274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– </a:t>
            </a:r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4507CF-9015-8283-0586-1BBF2D013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Компания: </a:t>
            </a:r>
            <a:r>
              <a:rPr lang="en-US" dirty="0"/>
              <a:t>LEGO (</a:t>
            </a:r>
            <a:r>
              <a:rPr lang="ru-RU" dirty="0"/>
              <a:t>они применяли </a:t>
            </a:r>
            <a:r>
              <a:rPr lang="en-US" dirty="0"/>
              <a:t>Scrum </a:t>
            </a:r>
            <a:r>
              <a:rPr lang="ru-RU" dirty="0"/>
              <a:t>подход для разработки новых продуктов)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Применение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Для запуска новой линейки конструкторов — спринты по 2 недели, на каждом проверяют дизайн, детали, маркетинговую концепцию.</a:t>
            </a:r>
          </a:p>
          <a:p>
            <a:pPr marL="0" indent="0">
              <a:buNone/>
            </a:pPr>
            <a:r>
              <a:rPr lang="ru-RU" dirty="0"/>
              <a:t>Регулярно пересматривают </a:t>
            </a:r>
            <a:r>
              <a:rPr lang="en" dirty="0"/>
              <a:t>backlog, </a:t>
            </a:r>
            <a:r>
              <a:rPr lang="ru-RU" dirty="0"/>
              <a:t>учитывая свежие данные о продажах и интересах детей.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" dirty="0"/>
              <a:t>Scrum </a:t>
            </a:r>
            <a:r>
              <a:rPr lang="ru-RU" dirty="0"/>
              <a:t>помогает быстро реагировать на тренды (например, меняющиеся интересы аудитории).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3961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Доска задач – «</a:t>
            </a:r>
            <a:r>
              <a:rPr lang="en" dirty="0"/>
              <a:t>Backlog → In Progress → Testing → Done».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Лимиты </a:t>
            </a:r>
            <a:r>
              <a:rPr lang="en" dirty="0"/>
              <a:t>WIP (Work in Progress)</a:t>
            </a:r>
            <a:r>
              <a:rPr lang="ru-RU" dirty="0"/>
              <a:t> – чтобы не перегружать команду задачами.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Непрерывный поток – нет фиксированных спринтов, задачи перетекают по мере готовности.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Прозрачность – все видят, на каком этапе каждая задача.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158892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9E0452-31ED-66F4-D949-B346098D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– </a:t>
            </a:r>
            <a:r>
              <a:rPr lang="ru-RU" dirty="0"/>
              <a:t>представление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2CE8AD6-0470-41C7-AFB1-0015550D9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187" y="1825625"/>
            <a:ext cx="85196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37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 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ru-RU" sz="2600" dirty="0"/>
              <a:t>Компания</a:t>
            </a:r>
            <a:r>
              <a:rPr lang="en-US" sz="2600" dirty="0"/>
              <a:t>: </a:t>
            </a:r>
            <a:r>
              <a:rPr lang="ru-RU" sz="2600" dirty="0"/>
              <a:t>Аптека25</a:t>
            </a:r>
            <a:r>
              <a:rPr lang="en-US" sz="2600" dirty="0"/>
              <a:t>.</a:t>
            </a:r>
            <a:r>
              <a:rPr lang="ru-RU" sz="2600" dirty="0" err="1"/>
              <a:t>рф</a:t>
            </a:r>
            <a:endParaRPr lang="ru-RU" sz="2600" dirty="0"/>
          </a:p>
          <a:p>
            <a:pPr marL="0" indent="0">
              <a:lnSpc>
                <a:spcPct val="80000"/>
              </a:lnSpc>
              <a:buNone/>
            </a:pPr>
            <a:endParaRPr lang="ru-RU" sz="2600" dirty="0"/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ru-RU" sz="2600" dirty="0"/>
              <a:t>Каждая задача из цикла показана на карточках</a:t>
            </a:r>
            <a:endParaRPr lang="en-US" sz="2600" dirty="0"/>
          </a:p>
          <a:p>
            <a:pPr marL="514350" indent="-514350">
              <a:lnSpc>
                <a:spcPct val="80000"/>
              </a:lnSpc>
              <a:buFont typeface="+mj-lt"/>
              <a:buAutoNum type="arabicPeriod"/>
            </a:pPr>
            <a:r>
              <a:rPr lang="ru-RU" sz="2600" dirty="0"/>
              <a:t>Наглядное представление кто на какой стадии</a:t>
            </a:r>
            <a:r>
              <a:rPr lang="en-US" sz="2600" dirty="0"/>
              <a:t>, </a:t>
            </a:r>
            <a:r>
              <a:rPr lang="ru-RU" sz="2600" dirty="0"/>
              <a:t>кто чем занимается</a:t>
            </a:r>
            <a:r>
              <a:rPr lang="en-US" sz="2600" dirty="0"/>
              <a:t>, </a:t>
            </a:r>
            <a:r>
              <a:rPr lang="ru-RU" sz="2600" dirty="0"/>
              <a:t>без четких сроков и без четких требований</a:t>
            </a:r>
          </a:p>
          <a:p>
            <a:pPr marL="0" indent="0">
              <a:lnSpc>
                <a:spcPct val="80000"/>
              </a:lnSpc>
              <a:buNone/>
            </a:pPr>
            <a:endParaRPr lang="ru-RU" sz="2600" dirty="0"/>
          </a:p>
          <a:p>
            <a:pPr marL="0" indent="0">
              <a:lnSpc>
                <a:spcPct val="80000"/>
              </a:lnSpc>
              <a:buNone/>
            </a:pPr>
            <a:r>
              <a:rPr lang="ru-RU" sz="2600" dirty="0"/>
              <a:t>Итог: максимальная оптимизация производственного процесса, сокращение очередей и «простоев».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62717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(</a:t>
            </a:r>
            <a:r>
              <a:rPr lang="ru-RU" dirty="0"/>
              <a:t>водопад)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Линейная структура – Анализ → Проектирование → Разработка → Тестирование → Внедрение.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Фиксированные требования – все согласовывается в начале, изменения после старта – редкие и трудные.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Документированность –на каждом этапе формируются отчёты и спецификации.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Чёткие фазы – переход на следующую фазу только после завершения предыдущей.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9751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A002A-49AE-FE61-B50B-AA6DBCEA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(</a:t>
            </a:r>
            <a:r>
              <a:rPr lang="ru-RU" dirty="0"/>
              <a:t>водопад)</a:t>
            </a:r>
            <a:r>
              <a:rPr lang="en-US" dirty="0"/>
              <a:t> </a:t>
            </a:r>
            <a:r>
              <a:rPr lang="ru-RU" dirty="0"/>
              <a:t>– пример подхода</a:t>
            </a:r>
          </a:p>
        </p:txBody>
      </p:sp>
      <p:pic>
        <p:nvPicPr>
          <p:cNvPr id="9218" name="Picture 2" descr="Agile или Waterfall — какой вариант соответствует вашему бизнесу? - Блог  системы управления проектами Worksection">
            <a:extLst>
              <a:ext uri="{FF2B5EF4-FFF2-40B4-BE49-F238E27FC236}">
                <a16:creationId xmlns:a16="http://schemas.microsoft.com/office/drawing/2014/main" id="{EB525CBA-44A1-C21F-E920-E6F25D6D0B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690688"/>
            <a:ext cx="6477000" cy="421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BB0F65-6584-1EED-B440-4BCBE292FEAC}"/>
              </a:ext>
            </a:extLst>
          </p:cNvPr>
          <p:cNvSpPr txBox="1"/>
          <p:nvPr/>
        </p:nvSpPr>
        <p:spPr>
          <a:xfrm>
            <a:off x="2857500" y="5934670"/>
            <a:ext cx="66126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Основная разница в том</a:t>
            </a:r>
            <a:r>
              <a:rPr lang="en-US" dirty="0"/>
              <a:t>, </a:t>
            </a:r>
            <a:r>
              <a:rPr lang="ru-RU" dirty="0"/>
              <a:t>что этапы четкие и последовательные для всего проекта</a:t>
            </a:r>
            <a:r>
              <a:rPr lang="en-US" dirty="0"/>
              <a:t>, </a:t>
            </a:r>
            <a:r>
              <a:rPr lang="ru-RU" dirty="0"/>
              <a:t>в гибких методологиях нет смысла определять этапы</a:t>
            </a:r>
          </a:p>
        </p:txBody>
      </p:sp>
    </p:spTree>
    <p:extLst>
      <p:ext uri="{BB962C8B-B14F-4D97-AF65-F5344CB8AC3E}">
        <p14:creationId xmlns:p14="http://schemas.microsoft.com/office/powerpoint/2010/main" val="3971844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(</a:t>
            </a:r>
            <a:r>
              <a:rPr lang="ru-RU" dirty="0"/>
              <a:t>пример из жизни)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Строительство моста или госзаказ (инфраструктурные проекты)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На старте: детальный план, смета, архитектурные чертежи и проектная документация.</a:t>
            </a:r>
          </a:p>
          <a:p>
            <a:pPr marL="0" indent="0">
              <a:buNone/>
            </a:pPr>
            <a:r>
              <a:rPr lang="ru-RU" sz="2600" dirty="0"/>
              <a:t>Затем подрядчики строго следуют плану, с минимальными изменениями.</a:t>
            </a:r>
          </a:p>
          <a:p>
            <a:pPr marL="0" indent="0">
              <a:buNone/>
            </a:pPr>
            <a:endParaRPr lang="ru-RU" sz="2600" dirty="0"/>
          </a:p>
          <a:p>
            <a:pPr marL="0" indent="0">
              <a:buNone/>
            </a:pPr>
            <a:r>
              <a:rPr lang="en" sz="2600" dirty="0"/>
              <a:t>Waterfall </a:t>
            </a:r>
            <a:r>
              <a:rPr lang="ru-RU" sz="2600" dirty="0"/>
              <a:t>хорошо работает, если требования и ресурсы чётко определены, а процесс трудоёмок и контролируем государственными нормами.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68669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4FE9E-6929-B5FE-6CED-16DB6627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 как понять какая модель мне нужна</a:t>
            </a:r>
            <a:r>
              <a:rPr lang="en-US" dirty="0"/>
              <a:t>????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634EC9E-9279-8B4F-1509-77FB4B59B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dirty="0"/>
              <a:t>Agile – </a:t>
            </a:r>
            <a:r>
              <a:rPr lang="ru-RU" sz="2600" dirty="0"/>
              <a:t>когда требования могут меняться</a:t>
            </a:r>
            <a:r>
              <a:rPr lang="en-US" sz="2600" dirty="0"/>
              <a:t>, </a:t>
            </a:r>
            <a:r>
              <a:rPr lang="ru-RU" sz="2600" dirty="0"/>
              <a:t>нужна гибкость</a:t>
            </a:r>
            <a:r>
              <a:rPr lang="en-US" sz="2600" dirty="0"/>
              <a:t>, </a:t>
            </a:r>
            <a:r>
              <a:rPr lang="ru-RU" sz="2600" dirty="0"/>
              <a:t>где нужно тестировать гипотезы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dirty="0"/>
              <a:t>Scrum – </a:t>
            </a:r>
            <a:r>
              <a:rPr lang="ru-RU" sz="2600" dirty="0"/>
              <a:t>точно также как </a:t>
            </a:r>
            <a:r>
              <a:rPr lang="en-US" sz="2600" dirty="0"/>
              <a:t>agile, </a:t>
            </a:r>
            <a:r>
              <a:rPr lang="ru-RU" sz="2600" dirty="0"/>
              <a:t>в добавок с четкой организованной </a:t>
            </a:r>
            <a:r>
              <a:rPr lang="ru-RU" sz="2600" dirty="0" err="1"/>
              <a:t>струткурой</a:t>
            </a:r>
            <a:r>
              <a:rPr lang="ru-RU" sz="2600" dirty="0"/>
              <a:t> выполнения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 err="1"/>
              <a:t>Канбан</a:t>
            </a:r>
            <a:r>
              <a:rPr lang="ru-RU" sz="2600" dirty="0"/>
              <a:t> – постоянный поток без жестких итераций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600" dirty="0"/>
              <a:t>Водопад – проект под заказ (или под ключ)</a:t>
            </a:r>
          </a:p>
          <a:p>
            <a:pPr marL="514350" indent="-514350">
              <a:buFont typeface="+mj-lt"/>
              <a:buAutoNum type="arabicPeriod"/>
            </a:pPr>
            <a:endParaRPr lang="ru-RU" sz="2600" dirty="0"/>
          </a:p>
          <a:p>
            <a:pPr marL="0" indent="0">
              <a:buNone/>
            </a:pPr>
            <a:r>
              <a:rPr lang="ru-RU" sz="2600" dirty="0"/>
              <a:t>Первые 3 подхода больше подходят продуктовой команде</a:t>
            </a:r>
            <a:r>
              <a:rPr lang="en-US" sz="2600" dirty="0"/>
              <a:t>, </a:t>
            </a:r>
            <a:r>
              <a:rPr lang="ru-RU" sz="2600" dirty="0"/>
              <a:t>тогда как последний больше подходит для работы на внешних заказчиков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67967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2429CE-2E97-3C9C-1E72-7A385E01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дальше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81C6F0-4B74-643E-7034-3BFB239E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Углубимся в ИТ и проекты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Рассмотрим бюджетирование и как планировать бюджет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Роли в ИТ проектах кто и как и что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Затронем </a:t>
            </a:r>
            <a:r>
              <a:rPr lang="en-US" dirty="0"/>
              <a:t>ML </a:t>
            </a:r>
            <a:r>
              <a:rPr lang="ru-RU" dirty="0"/>
              <a:t>в проектах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Детализация задач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Инструменты для каждого из этапов (планирование</a:t>
            </a:r>
            <a:r>
              <a:rPr lang="en-US" dirty="0"/>
              <a:t>, </a:t>
            </a:r>
            <a:r>
              <a:rPr lang="ru-RU" dirty="0"/>
              <a:t>разработка</a:t>
            </a:r>
            <a:r>
              <a:rPr lang="en-US" dirty="0"/>
              <a:t>, </a:t>
            </a:r>
            <a:r>
              <a:rPr lang="ru-RU" dirty="0"/>
              <a:t>тестирование</a:t>
            </a:r>
            <a:r>
              <a:rPr lang="en-US" dirty="0"/>
              <a:t>, </a:t>
            </a:r>
            <a:r>
              <a:rPr lang="ru-RU" dirty="0"/>
              <a:t>инфраструктура</a:t>
            </a:r>
            <a:r>
              <a:rPr lang="en-US" dirty="0"/>
              <a:t>, </a:t>
            </a:r>
            <a:r>
              <a:rPr lang="ru-RU" dirty="0" err="1"/>
              <a:t>итп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68009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1357</Words>
  <Application>Microsoft Macintosh PowerPoint</Application>
  <PresentationFormat>Широкоэкранный</PresentationFormat>
  <Paragraphs>174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Тема Office 2013 – 2022</vt:lpstr>
      <vt:lpstr>Управление проектами</vt:lpstr>
      <vt:lpstr>План максимум на сегодня</vt:lpstr>
      <vt:lpstr>Что есть проект и как им управлять?</vt:lpstr>
      <vt:lpstr>Проект это…</vt:lpstr>
      <vt:lpstr>Тогда проектное управление это…</vt:lpstr>
      <vt:lpstr>Стадии проектного управления</vt:lpstr>
      <vt:lpstr>Этап 1 – инициация </vt:lpstr>
      <vt:lpstr>Этап 2 – управление командой проекта </vt:lpstr>
      <vt:lpstr>Этап 3 – контроль стадий</vt:lpstr>
      <vt:lpstr>Этап 4 – переход на следующий уровень стадию</vt:lpstr>
      <vt:lpstr>Этап 5 – закрытие проекта</vt:lpstr>
      <vt:lpstr>Жизненный кейс</vt:lpstr>
      <vt:lpstr>Жизненный кейс</vt:lpstr>
      <vt:lpstr>Этап 2 – определение задач</vt:lpstr>
      <vt:lpstr>Все еще этап 2</vt:lpstr>
      <vt:lpstr>Этап 3 – контроль сроков и бюджетов</vt:lpstr>
      <vt:lpstr>Этап 4 – переход на следующую стадию или закрытие</vt:lpstr>
      <vt:lpstr>Этап 5 – закрываемся и подводим итоги</vt:lpstr>
      <vt:lpstr>Этап 5 – закрываемся и подводим итоги</vt:lpstr>
      <vt:lpstr>Методологии проектного управления</vt:lpstr>
      <vt:lpstr>Методологии</vt:lpstr>
      <vt:lpstr>Методологии</vt:lpstr>
      <vt:lpstr>Agile</vt:lpstr>
      <vt:lpstr>Agile – наглядное представление</vt:lpstr>
      <vt:lpstr>Agile – пример</vt:lpstr>
      <vt:lpstr>Scrum – тоже самое что agile, но…</vt:lpstr>
      <vt:lpstr>Scrum – представление</vt:lpstr>
      <vt:lpstr>Scrum – пример</vt:lpstr>
      <vt:lpstr>Kanban </vt:lpstr>
      <vt:lpstr>Kanban – представление</vt:lpstr>
      <vt:lpstr>Kanban </vt:lpstr>
      <vt:lpstr>Waterfall (водопад) </vt:lpstr>
      <vt:lpstr>Waterfall (водопад) – пример подхода</vt:lpstr>
      <vt:lpstr>Waterfall (пример из жизни) </vt:lpstr>
      <vt:lpstr>А как понять какая модель мне нужна????</vt:lpstr>
      <vt:lpstr>Что дальше?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проектами</dc:title>
  <dc:creator>fj975</dc:creator>
  <cp:lastModifiedBy>fj975</cp:lastModifiedBy>
  <cp:revision>6</cp:revision>
  <dcterms:created xsi:type="dcterms:W3CDTF">2025-03-01T00:55:49Z</dcterms:created>
  <dcterms:modified xsi:type="dcterms:W3CDTF">2026-02-21T08:18:12Z</dcterms:modified>
</cp:coreProperties>
</file>