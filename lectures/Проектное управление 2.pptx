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1" r:id="rId7"/>
    <p:sldId id="264" r:id="rId8"/>
    <p:sldId id="265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18"/>
    <p:restoredTop sz="96327"/>
  </p:normalViewPr>
  <p:slideViewPr>
    <p:cSldViewPr snapToGrid="0">
      <p:cViewPr varScale="1">
        <p:scale>
          <a:sx n="128" d="100"/>
          <a:sy n="128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2A90B-0137-55E9-3D3F-FF2CD1BAF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2F3CF5-0CD9-E7D5-AFA8-2BC9BC56F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759438-E0D0-776E-9913-95B1C34E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0335A3-80C0-F6DA-C977-C349D8D5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0A3FAF-FF54-8D2B-C53B-C571BD343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084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D1B72-C786-8A18-FE8C-23B59804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103600-5ACB-BC8C-FAA6-9AFEA67AE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EF0961-0F55-08F6-D471-24CD8E680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D9EC1C-BB83-4FFC-B28E-E895D587C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B9FA5D-F2BC-9331-E924-013698B4E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854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10F540-E46F-7780-52D8-C4627CC16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E4521D-4715-9537-D633-747214589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5C3E90-C482-0A5D-F850-A5F9C2C9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2D56C4-3419-4B1C-5319-971DF32E5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BC8AB7-1421-40FD-DC5A-62777591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197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1CA77B-B797-F221-498D-4D606356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4E0BE4-499B-1A4E-E593-9E9CE589F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F85BDD-F691-010A-C960-A4CE15E38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36A491-8BE5-6AE9-0793-D8B7A14F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6EEC9E-2FE8-0F46-F251-D8EAF75FD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7758B9-BC10-164C-8924-44D01AB05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043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10742B-4626-2FEA-02DA-2FFBD2CD7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FDAE44-2186-6037-1AFB-703B236BD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5B2C060-A028-E879-422C-A57F44DE6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109F384-4510-B13C-E110-CA3A61392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800DC5E-3C03-4031-9075-C845DF5822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E73D125-B62E-3F97-0E0D-C8E4D0BEE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2B72C88-D0C6-EFAF-C464-A051E7F8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40F949C-5EF4-780A-F52A-CB4B28AE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607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C03EC9-3A5B-9D97-CDCB-CAF49F8D1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BE7B442-2F18-D9E9-87CD-E729BA1F5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A9A77AF-0180-35B5-7BC9-04394643E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E8DD80C-8DBE-8D00-09A7-1D99AAC1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10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BD33760-A8A1-8D80-ECEB-7DCD1FF4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94D3450-3381-65EC-88E9-96EFA5CE2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1C9D36-18C4-BD8C-73E0-8A4D3462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1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38F84-8E69-21A5-565E-6D218DEED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873EBC-99D6-4997-617F-1C95B1767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948CD65-04A7-C1BB-3F7B-EB1BE7DC4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97DC5D-2379-EB05-6EBD-AE20C39B2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C37D7E-698F-019F-E1D7-47FC793A5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797098-FF28-A9C7-A835-F8CA0A1D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67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CCF17F-C163-E30A-1FD3-3A343238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7695DE-AE07-63E8-6574-C63CE47BF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1406EC-3704-D029-4915-0FF194BAF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5B91F9-DDAE-B6F3-1810-49E7673EA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3CEAF0-7666-711D-E499-CADE3CF5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C931FC-CB84-0382-9B0F-4EC61406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0528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5B9C7C-5AC7-CCDD-EF51-63CC9DB6A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F02C283-953C-61AA-FE00-F8B394471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D860C5-C997-0A1F-BB36-A3FC4DA46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BD2DEE-3214-29DA-ED91-0E7C687A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9B0D8A-0BF5-5A9B-ACC0-88C06F47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646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66CB2E3-A89B-A430-CCA1-5C2180CA5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1ED499-6C02-570C-F3C4-D9C04B947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AAF1D0-F4A9-88E3-BD5A-5C9AC35A0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9BE223-BBF6-A421-46D5-86153CBB1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BFD99B-4856-7F8B-2B3F-8DFEA137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85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CEE28-549A-CE3B-4E86-D72FF2651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639BC2-9F4F-738E-E325-E03F3AD88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310BF4-667C-DF07-206F-7C22DA142E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B3F5D-EE49-F347-AD1A-F12FECDBC01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22A65B-4407-38C7-1824-0F81EAF096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5C76B5-DE15-28C1-CE42-11A456106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788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2539A-8F2B-28A1-1A99-954DE03EEF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Управление проектами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49097C-606E-97F0-73D7-70C7ABAE70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Занятие 2</a:t>
            </a:r>
            <a:r>
              <a:rPr lang="en-US" dirty="0"/>
              <a:t>. </a:t>
            </a:r>
            <a:r>
              <a:rPr lang="ru-RU" dirty="0"/>
              <a:t>От идеи к реализации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2956955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CD63E-AE51-AAD7-E579-B37691819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C818CA-8B67-0F97-CFD1-F1BAB2C75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Демонстрация </a:t>
            </a:r>
            <a:r>
              <a:rPr lang="ru-RU"/>
              <a:t>домашней работы</a:t>
            </a:r>
            <a:endParaRPr lang="ru-RU" dirty="0"/>
          </a:p>
          <a:p>
            <a:r>
              <a:rPr lang="ru-RU" dirty="0"/>
              <a:t>Типы бюджетов</a:t>
            </a:r>
          </a:p>
          <a:p>
            <a:r>
              <a:rPr lang="ru-RU" dirty="0"/>
              <a:t>Предварительный анализ проекта (старт)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8235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1FA95D-5548-3C96-8C01-882C2CA01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прошлой серии</a:t>
            </a:r>
            <a:r>
              <a:rPr lang="en-US" dirty="0"/>
              <a:t>…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908A5F-3346-6659-B472-F050221D5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Важные атрибуты проекта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Цель проекта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Сроки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Ресурсы</a:t>
            </a:r>
          </a:p>
          <a:p>
            <a:pPr marL="0" indent="0">
              <a:buNone/>
            </a:pPr>
            <a:r>
              <a:rPr lang="en-US" dirty="0"/>
              <a:t>Flow </a:t>
            </a:r>
            <a:r>
              <a:rPr lang="ru-RU" dirty="0"/>
              <a:t>проекта</a:t>
            </a:r>
            <a:r>
              <a:rPr lang="en-US" dirty="0"/>
              <a:t>: </a:t>
            </a:r>
            <a:r>
              <a:rPr lang="ru-RU" dirty="0"/>
              <a:t>инициация </a:t>
            </a:r>
            <a:r>
              <a:rPr lang="en-US" dirty="0"/>
              <a:t>-&gt; </a:t>
            </a:r>
            <a:r>
              <a:rPr lang="ru-RU" dirty="0"/>
              <a:t>управление командой </a:t>
            </a:r>
            <a:r>
              <a:rPr lang="en-US" dirty="0"/>
              <a:t>-&gt; </a:t>
            </a:r>
            <a:r>
              <a:rPr lang="ru-RU" dirty="0"/>
              <a:t>контроль стадий </a:t>
            </a:r>
            <a:r>
              <a:rPr lang="en-US" dirty="0"/>
              <a:t>-&gt; </a:t>
            </a:r>
            <a:r>
              <a:rPr lang="ru-RU" dirty="0"/>
              <a:t>переход на следующий уровень </a:t>
            </a:r>
            <a:r>
              <a:rPr lang="en-US" dirty="0"/>
              <a:t>| </a:t>
            </a:r>
            <a:r>
              <a:rPr lang="ru-RU" dirty="0"/>
              <a:t>закрытие проекта</a:t>
            </a:r>
          </a:p>
          <a:p>
            <a:pPr marL="0" indent="0">
              <a:buNone/>
            </a:pPr>
            <a:r>
              <a:rPr lang="ru-RU" dirty="0"/>
              <a:t>Методологии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en-US" dirty="0"/>
              <a:t>Agile (Scrum)</a:t>
            </a:r>
          </a:p>
          <a:p>
            <a:pPr marL="514350" indent="-514350">
              <a:buAutoNum type="arabicPeriod"/>
            </a:pPr>
            <a:r>
              <a:rPr lang="en-US" dirty="0"/>
              <a:t>Kanban</a:t>
            </a:r>
          </a:p>
          <a:p>
            <a:pPr marL="514350" indent="-514350">
              <a:buAutoNum type="arabicPeriod"/>
            </a:pPr>
            <a:r>
              <a:rPr lang="en-US" dirty="0"/>
              <a:t>Waterfall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809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B569C-2DDC-F142-1957-246720F9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Бюджеты проектов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198AC2-18AE-2779-C624-245A4596A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Бюджет проекта – планируемая сумма всех финансовых ресурсов</a:t>
            </a:r>
            <a:r>
              <a:rPr lang="en-US" dirty="0"/>
              <a:t>, </a:t>
            </a:r>
            <a:r>
              <a:rPr lang="ru-RU" dirty="0"/>
              <a:t>необходимый для старта</a:t>
            </a:r>
            <a:r>
              <a:rPr lang="en-US" dirty="0"/>
              <a:t>|</a:t>
            </a:r>
            <a:r>
              <a:rPr lang="ru-RU" dirty="0"/>
              <a:t>реализации проекта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То есть</a:t>
            </a:r>
            <a:r>
              <a:rPr lang="en-US" dirty="0"/>
              <a:t>, </a:t>
            </a:r>
            <a:r>
              <a:rPr lang="ru-RU" dirty="0"/>
              <a:t>предварительная оценка всех расходов направленных на реализацию проекта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Смета проекта – сумма всех фактических трат проекта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626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B569C-2DDC-F142-1957-246720F9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Проще говоря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198AC2-18AE-2779-C624-245A4596A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Бюджет = планируем заранее</a:t>
            </a:r>
          </a:p>
          <a:p>
            <a:pPr marL="0" indent="0">
              <a:buNone/>
            </a:pPr>
            <a:r>
              <a:rPr lang="ru-RU" dirty="0"/>
              <a:t>Смета = рассчитываем точно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645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как считать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Затратная часть включает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Зарплаты сотрудников</a:t>
            </a:r>
            <a:r>
              <a:rPr lang="en-US" dirty="0"/>
              <a:t> (</a:t>
            </a:r>
            <a:r>
              <a:rPr lang="ru-RU" dirty="0"/>
              <a:t>часы работы</a:t>
            </a:r>
            <a:r>
              <a:rPr lang="en-US" dirty="0"/>
              <a:t>, </a:t>
            </a:r>
            <a:r>
              <a:rPr lang="ru-RU" dirty="0"/>
              <a:t>оплата труда команды)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Материалы и оборудование (кирпичи</a:t>
            </a:r>
            <a:r>
              <a:rPr lang="en-US" dirty="0"/>
              <a:t>, </a:t>
            </a:r>
            <a:r>
              <a:rPr lang="ru-RU" dirty="0"/>
              <a:t>бетон</a:t>
            </a:r>
            <a:r>
              <a:rPr lang="en-US" dirty="0"/>
              <a:t>, </a:t>
            </a:r>
            <a:r>
              <a:rPr lang="ru-RU" dirty="0"/>
              <a:t>ремонт</a:t>
            </a:r>
            <a:r>
              <a:rPr lang="en-US" dirty="0"/>
              <a:t>. </a:t>
            </a:r>
            <a:r>
              <a:rPr lang="ru-RU" dirty="0"/>
              <a:t>Для </a:t>
            </a:r>
            <a:r>
              <a:rPr lang="en-US" dirty="0"/>
              <a:t>IT – </a:t>
            </a:r>
            <a:r>
              <a:rPr lang="ru-RU" dirty="0"/>
              <a:t>софт</a:t>
            </a:r>
            <a:r>
              <a:rPr lang="en-US" dirty="0"/>
              <a:t>, </a:t>
            </a:r>
            <a:r>
              <a:rPr lang="ru-RU" dirty="0"/>
              <a:t>лицензии)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Аренда услуг (офис</a:t>
            </a:r>
            <a:r>
              <a:rPr lang="en-US" dirty="0"/>
              <a:t>, </a:t>
            </a:r>
            <a:r>
              <a:rPr lang="ru-RU" dirty="0"/>
              <a:t>интернет</a:t>
            </a:r>
            <a:r>
              <a:rPr lang="en-US" dirty="0"/>
              <a:t>, </a:t>
            </a:r>
            <a:r>
              <a:rPr lang="ru-RU" dirty="0"/>
              <a:t>коммунальные услуги)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Маркетинг и реклама (продвижение продукта</a:t>
            </a:r>
            <a:r>
              <a:rPr lang="en-US" dirty="0"/>
              <a:t>, </a:t>
            </a:r>
            <a:r>
              <a:rPr lang="ru-RU" dirty="0"/>
              <a:t>реклама)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Риски (непредвиденные обстоятельства</a:t>
            </a:r>
            <a:r>
              <a:rPr lang="en-US" dirty="0"/>
              <a:t>, </a:t>
            </a:r>
            <a:r>
              <a:rPr lang="ru-RU" dirty="0"/>
              <a:t>резервы)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Налоги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281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бюджетов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Fixed</a:t>
            </a:r>
            <a:r>
              <a:rPr lang="ru-RU" dirty="0"/>
              <a:t> </a:t>
            </a:r>
            <a:r>
              <a:rPr lang="en-US" dirty="0"/>
              <a:t>Price – </a:t>
            </a:r>
            <a:r>
              <a:rPr lang="ru-RU" dirty="0"/>
              <a:t>фиксированный бюджет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Time&amp;Material</a:t>
            </a:r>
            <a:r>
              <a:rPr lang="en-US" dirty="0"/>
              <a:t> – </a:t>
            </a:r>
            <a:r>
              <a:rPr lang="ru-RU" dirty="0"/>
              <a:t>по времени и материалам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Agile-</a:t>
            </a:r>
            <a:r>
              <a:rPr lang="ru-RU" dirty="0"/>
              <a:t>бюджеты – по спринтам</a:t>
            </a:r>
            <a:r>
              <a:rPr lang="en-US" dirty="0"/>
              <a:t>, </a:t>
            </a:r>
            <a:r>
              <a:rPr lang="ru-RU" dirty="0"/>
              <a:t>этапам</a:t>
            </a:r>
            <a:r>
              <a:rPr lang="en-US" dirty="0"/>
              <a:t>, </a:t>
            </a:r>
            <a:r>
              <a:rPr lang="ru-RU" dirty="0"/>
              <a:t>фичам</a:t>
            </a:r>
            <a:r>
              <a:rPr lang="en-US" dirty="0"/>
              <a:t>, 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6462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Price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Четко определены требования (любые изменения требует доп. Соглашений)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Четко обозначена сумма и срок выполнения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Когда применять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Требования четко определены и понятны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Результат легко оценить заранее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3640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Price</a:t>
            </a:r>
            <a:r>
              <a:rPr lang="ru-RU" dirty="0"/>
              <a:t> (предложите идеи)</a:t>
            </a:r>
          </a:p>
        </p:txBody>
      </p:sp>
      <p:sp>
        <p:nvSpPr>
          <p:cNvPr id="7" name="AutoShape 8" descr="🇰🇬барабанная дробь on X: &quot;КРЕМНИЕВАЯ ДОЛИНААААА #S5E1&quot; / X">
            <a:extLst>
              <a:ext uri="{FF2B5EF4-FFF2-40B4-BE49-F238E27FC236}">
                <a16:creationId xmlns:a16="http://schemas.microsoft.com/office/drawing/2014/main" id="{F2150161-4A4C-DE20-1B72-60790DDF08A1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680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Time&amp;Material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Оплата по факту выполненных работ (часы</a:t>
            </a:r>
            <a:r>
              <a:rPr lang="en-US" dirty="0"/>
              <a:t>, </a:t>
            </a:r>
            <a:r>
              <a:rPr lang="ru-RU" dirty="0"/>
              <a:t>дни</a:t>
            </a:r>
            <a:r>
              <a:rPr lang="en-US" dirty="0"/>
              <a:t>, …) </a:t>
            </a:r>
            <a:r>
              <a:rPr lang="ru-RU" dirty="0"/>
              <a:t>и использованных материалов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Гибкость</a:t>
            </a:r>
            <a:r>
              <a:rPr lang="en-US" dirty="0"/>
              <a:t> – </a:t>
            </a:r>
            <a:r>
              <a:rPr lang="ru-RU" dirty="0"/>
              <a:t>можно вносить изменения по ходу проекта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Когда применять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Точный объем работ заранее неизвестен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Требования меняются и проект сложный</a:t>
            </a:r>
            <a:r>
              <a:rPr lang="en-US" dirty="0"/>
              <a:t>/</a:t>
            </a:r>
            <a:r>
              <a:rPr lang="ru-RU" dirty="0" err="1"/>
              <a:t>иновационный</a:t>
            </a:r>
            <a:r>
              <a:rPr lang="ru-RU" dirty="0"/>
              <a:t>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822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Time&amp;Material</a:t>
            </a:r>
            <a:r>
              <a:rPr lang="ru-RU" dirty="0"/>
              <a:t> (Предложите идеи)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(тут должна была быть фотография барабанов</a:t>
            </a:r>
            <a:r>
              <a:rPr lang="en-US" dirty="0"/>
              <a:t>, </a:t>
            </a:r>
            <a:r>
              <a:rPr lang="ru-RU" dirty="0"/>
              <a:t>но </a:t>
            </a:r>
            <a:r>
              <a:rPr lang="en-US" dirty="0" err="1"/>
              <a:t>powerpoint</a:t>
            </a:r>
            <a:r>
              <a:rPr lang="en-US" dirty="0"/>
              <a:t> </a:t>
            </a:r>
            <a:r>
              <a:rPr lang="ru-RU" dirty="0"/>
              <a:t>дико </a:t>
            </a:r>
            <a:r>
              <a:rPr lang="ru-RU" dirty="0" err="1"/>
              <a:t>лагает</a:t>
            </a:r>
            <a:r>
              <a:rPr lang="ru-RU" dirty="0"/>
              <a:t> от этого)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91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Agile-</a:t>
            </a:r>
            <a:r>
              <a:rPr lang="ru-RU" dirty="0"/>
              <a:t>бюджеты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Бюджет формируется из множества маленьких этапов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Заказчик оплачивает за результат небольших спринтов</a:t>
            </a:r>
            <a:r>
              <a:rPr lang="en-US" dirty="0"/>
              <a:t>, </a:t>
            </a:r>
            <a:r>
              <a:rPr lang="ru-RU" dirty="0"/>
              <a:t>этапов</a:t>
            </a:r>
            <a:r>
              <a:rPr lang="en-US" dirty="0"/>
              <a:t>, </a:t>
            </a:r>
            <a:r>
              <a:rPr lang="ru-RU" dirty="0"/>
              <a:t>содержит продуктовую команду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Когда применять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 стартапах</a:t>
            </a:r>
            <a:r>
              <a:rPr lang="en-US" dirty="0"/>
              <a:t>/</a:t>
            </a:r>
            <a:r>
              <a:rPr lang="ru-RU" dirty="0"/>
              <a:t>проектах где проверяются гипотезы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 долгосрочных (или продуктовых) проектах</a:t>
            </a:r>
            <a:r>
              <a:rPr lang="en-US" dirty="0"/>
              <a:t>, </a:t>
            </a:r>
            <a:r>
              <a:rPr lang="ru-RU" dirty="0"/>
              <a:t>где финальная стоимость точно неизвестна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073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Agile-</a:t>
            </a:r>
            <a:r>
              <a:rPr lang="ru-RU" dirty="0"/>
              <a:t>бюджеты (Предложите идеи)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(тут должна была быть фотография барабанов</a:t>
            </a:r>
            <a:r>
              <a:rPr lang="en-US" dirty="0"/>
              <a:t>, </a:t>
            </a:r>
            <a:r>
              <a:rPr lang="ru-RU" dirty="0"/>
              <a:t>но </a:t>
            </a:r>
            <a:r>
              <a:rPr lang="en-US" dirty="0" err="1"/>
              <a:t>powerpoint</a:t>
            </a:r>
            <a:r>
              <a:rPr lang="en-US" dirty="0"/>
              <a:t> </a:t>
            </a:r>
            <a:r>
              <a:rPr lang="ru-RU" dirty="0"/>
              <a:t>дико </a:t>
            </a:r>
            <a:r>
              <a:rPr lang="ru-RU" dirty="0" err="1"/>
              <a:t>лагает</a:t>
            </a:r>
            <a:r>
              <a:rPr lang="ru-RU" dirty="0"/>
              <a:t> от этого)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413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Правило выбора бюджета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Проект понятен</a:t>
            </a:r>
            <a:r>
              <a:rPr lang="en-US" dirty="0"/>
              <a:t>, </a:t>
            </a:r>
            <a:r>
              <a:rPr lang="ru-RU" dirty="0"/>
              <a:t>требования известны</a:t>
            </a:r>
            <a:r>
              <a:rPr lang="en-US" dirty="0"/>
              <a:t>, </a:t>
            </a:r>
            <a:r>
              <a:rPr lang="ru-RU" dirty="0"/>
              <a:t>изменчивость нулевая – </a:t>
            </a:r>
            <a:r>
              <a:rPr lang="en-US" dirty="0"/>
              <a:t>Fixed Price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Проект не определён</a:t>
            </a:r>
            <a:r>
              <a:rPr lang="en-US" dirty="0"/>
              <a:t>, </a:t>
            </a:r>
            <a:r>
              <a:rPr lang="ru-RU" dirty="0"/>
              <a:t>развивается поэтапно</a:t>
            </a:r>
            <a:r>
              <a:rPr lang="en-US" dirty="0"/>
              <a:t>, </a:t>
            </a:r>
            <a:r>
              <a:rPr lang="ru-RU" dirty="0"/>
              <a:t>часто меняется – </a:t>
            </a:r>
            <a:r>
              <a:rPr lang="en-US" dirty="0" err="1"/>
              <a:t>Time&amp;Material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Проект развивается по этапам</a:t>
            </a:r>
            <a:r>
              <a:rPr lang="en-US" dirty="0"/>
              <a:t>, </a:t>
            </a:r>
            <a:r>
              <a:rPr lang="ru-RU" dirty="0"/>
              <a:t>является рабочим продуктом – </a:t>
            </a:r>
            <a:r>
              <a:rPr lang="en-US" dirty="0"/>
              <a:t>Agile </a:t>
            </a:r>
            <a:r>
              <a:rPr lang="ru-RU" dirty="0"/>
              <a:t>бюджет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309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#1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21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Компания в основе своей занимается изготовлением камер полного цикла (от проектирования физических плат</a:t>
            </a:r>
            <a:r>
              <a:rPr lang="en-US" dirty="0"/>
              <a:t>, </a:t>
            </a:r>
            <a:r>
              <a:rPr lang="ru-RU" dirty="0"/>
              <a:t>до изготовления план</a:t>
            </a:r>
            <a:r>
              <a:rPr lang="en-US" dirty="0"/>
              <a:t>, </a:t>
            </a:r>
            <a:r>
              <a:rPr lang="ru-RU" dirty="0"/>
              <a:t>разработки ПО)</a:t>
            </a:r>
            <a:r>
              <a:rPr lang="en-US" dirty="0"/>
              <a:t>. </a:t>
            </a:r>
            <a:r>
              <a:rPr lang="ru-RU" dirty="0"/>
              <a:t>Работает на сторонних заказчиков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Какие типы бюджетов подходят</a:t>
            </a:r>
            <a:r>
              <a:rPr lang="en-US" dirty="0"/>
              <a:t>?</a:t>
            </a:r>
          </a:p>
        </p:txBody>
      </p:sp>
      <p:pic>
        <p:nvPicPr>
          <p:cNvPr id="4098" name="Picture 2" descr="Rhonda Software | LinkedIn">
            <a:extLst>
              <a:ext uri="{FF2B5EF4-FFF2-40B4-BE49-F238E27FC236}">
                <a16:creationId xmlns:a16="http://schemas.microsoft.com/office/drawing/2014/main" id="{1AB75B8B-6891-4B2E-00C1-361298FCC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3800" y="2159000"/>
            <a:ext cx="254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5565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#</a:t>
            </a:r>
            <a:r>
              <a:rPr lang="ru-RU" dirty="0"/>
              <a:t>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21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Компания занимается </a:t>
            </a:r>
            <a:r>
              <a:rPr lang="en-US" dirty="0"/>
              <a:t>web-</a:t>
            </a:r>
            <a:r>
              <a:rPr lang="ru-RU" dirty="0"/>
              <a:t>разработкой</a:t>
            </a:r>
            <a:r>
              <a:rPr lang="en-US" dirty="0"/>
              <a:t>, </a:t>
            </a:r>
            <a:r>
              <a:rPr lang="ru-RU" dirty="0"/>
              <a:t>находит сторонних заказчиков</a:t>
            </a:r>
            <a:r>
              <a:rPr lang="en-US" dirty="0"/>
              <a:t>, </a:t>
            </a:r>
            <a:r>
              <a:rPr lang="ru-RU" dirty="0"/>
              <a:t>проектирует дизайн</a:t>
            </a:r>
            <a:r>
              <a:rPr lang="en-US" dirty="0"/>
              <a:t>, </a:t>
            </a:r>
            <a:r>
              <a:rPr lang="ru-RU" dirty="0"/>
              <a:t>разрабатывает фронт-бек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Какие типы бюджетов подходят</a:t>
            </a:r>
            <a:r>
              <a:rPr lang="en-US" dirty="0"/>
              <a:t>?</a:t>
            </a:r>
          </a:p>
        </p:txBody>
      </p:sp>
      <p:pic>
        <p:nvPicPr>
          <p:cNvPr id="6146" name="Picture 2" descr="DVIGA Reviews | View Portfolios | DesignRush">
            <a:extLst>
              <a:ext uri="{FF2B5EF4-FFF2-40B4-BE49-F238E27FC236}">
                <a16:creationId xmlns:a16="http://schemas.microsoft.com/office/drawing/2014/main" id="{FEF65A6D-64EB-2DF2-AA6C-23F4F7B48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476500"/>
            <a:ext cx="3810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126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#3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21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Компания занимается разработкой внутренних сервисов</a:t>
            </a:r>
            <a:r>
              <a:rPr lang="en-US" dirty="0"/>
              <a:t>, </a:t>
            </a:r>
            <a:r>
              <a:rPr lang="ru-RU" dirty="0"/>
              <a:t>для ускорения</a:t>
            </a:r>
            <a:r>
              <a:rPr lang="en-US" dirty="0"/>
              <a:t>/</a:t>
            </a:r>
            <a:r>
              <a:rPr lang="ru-RU" dirty="0"/>
              <a:t>упрощения получения услуг гражданам страны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Какие типы бюджетов подходят</a:t>
            </a:r>
            <a:r>
              <a:rPr lang="en-US" dirty="0"/>
              <a:t>?</a:t>
            </a:r>
          </a:p>
        </p:txBody>
      </p:sp>
      <p:pic>
        <p:nvPicPr>
          <p:cNvPr id="8194" name="Picture 2" descr="Госуслуги - Apps on Google Play">
            <a:extLst>
              <a:ext uri="{FF2B5EF4-FFF2-40B4-BE49-F238E27FC236}">
                <a16:creationId xmlns:a16="http://schemas.microsoft.com/office/drawing/2014/main" id="{533B9121-F60D-086D-7A31-A644F0FB0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5016" y="1429608"/>
            <a:ext cx="3998784" cy="3998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7659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#</a:t>
            </a:r>
            <a:r>
              <a:rPr lang="ru-RU" dirty="0"/>
              <a:t>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21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Компания занимается разработкой внутренних сервисов</a:t>
            </a:r>
            <a:r>
              <a:rPr lang="en-US" dirty="0"/>
              <a:t>. </a:t>
            </a:r>
            <a:r>
              <a:rPr lang="ru-RU" dirty="0"/>
              <a:t>Прямое направление – продажа аптечных препаратов</a:t>
            </a:r>
            <a:r>
              <a:rPr lang="en-US" dirty="0"/>
              <a:t>. </a:t>
            </a:r>
            <a:r>
              <a:rPr lang="ru-RU" dirty="0"/>
              <a:t>Имеет как и свой штат разработки</a:t>
            </a:r>
            <a:r>
              <a:rPr lang="en-US" dirty="0"/>
              <a:t>, </a:t>
            </a:r>
            <a:r>
              <a:rPr lang="ru-RU" dirty="0"/>
              <a:t>так и сторонних интеграторов (например поисковый движок)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Какие типы бюджетов подходят</a:t>
            </a:r>
            <a:r>
              <a:rPr lang="en-US" dirty="0"/>
              <a:t>?</a:t>
            </a:r>
          </a:p>
        </p:txBody>
      </p:sp>
      <p:pic>
        <p:nvPicPr>
          <p:cNvPr id="10242" name="Picture 2" descr="Компания Аптека25.РФ — о компании, фотографии офиса, контакты — Хабр Карьера">
            <a:extLst>
              <a:ext uri="{FF2B5EF4-FFF2-40B4-BE49-F238E27FC236}">
                <a16:creationId xmlns:a16="http://schemas.microsoft.com/office/drawing/2014/main" id="{8F557963-2C51-588E-F975-57360FC55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3800" y="2159000"/>
            <a:ext cx="254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0204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зачем мне это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От выбора типа бюджета для проекта зависят следующие вещи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ru-RU" dirty="0"/>
              <a:t>Помогает понять</a:t>
            </a:r>
            <a:r>
              <a:rPr lang="en-US" dirty="0"/>
              <a:t>, </a:t>
            </a:r>
            <a:r>
              <a:rPr lang="ru-RU" dirty="0"/>
              <a:t>а сколько денег надо</a:t>
            </a:r>
            <a:r>
              <a:rPr lang="en-US" dirty="0"/>
              <a:t>?</a:t>
            </a:r>
            <a:r>
              <a:rPr lang="ru-RU" dirty="0"/>
              <a:t> Или понять</a:t>
            </a:r>
            <a:r>
              <a:rPr lang="en-US" dirty="0"/>
              <a:t>, </a:t>
            </a:r>
            <a:r>
              <a:rPr lang="ru-RU" dirty="0"/>
              <a:t>что мы не понимаем сколько денег надо</a:t>
            </a:r>
          </a:p>
          <a:p>
            <a:pPr marL="514350" indent="-514350">
              <a:buAutoNum type="arabicPeriod"/>
            </a:pPr>
            <a:r>
              <a:rPr lang="ru-RU" dirty="0"/>
              <a:t>Упрощает контроль расходов</a:t>
            </a:r>
          </a:p>
          <a:p>
            <a:pPr marL="514350" indent="-514350">
              <a:buAutoNum type="arabicPeriod"/>
            </a:pPr>
            <a:r>
              <a:rPr lang="ru-RU" dirty="0"/>
              <a:t>Все стороны понимают</a:t>
            </a:r>
            <a:r>
              <a:rPr lang="en-US" dirty="0"/>
              <a:t>, </a:t>
            </a:r>
            <a:r>
              <a:rPr lang="ru-RU" dirty="0"/>
              <a:t>куда уходят деньги и почему</a:t>
            </a:r>
          </a:p>
          <a:p>
            <a:pPr marL="514350" indent="-514350">
              <a:buAutoNum type="arabicPeriod"/>
            </a:pPr>
            <a:r>
              <a:rPr lang="ru-RU" dirty="0"/>
              <a:t>Понимание</a:t>
            </a:r>
            <a:r>
              <a:rPr lang="en-US" dirty="0"/>
              <a:t>, </a:t>
            </a:r>
            <a:r>
              <a:rPr lang="ru-RU" dirty="0"/>
              <a:t>какие риски закладывать в бюджет (например мы понимаем</a:t>
            </a:r>
            <a:r>
              <a:rPr lang="en-US" dirty="0"/>
              <a:t>, </a:t>
            </a:r>
            <a:r>
              <a:rPr lang="ru-RU" dirty="0"/>
              <a:t>что не укладываемся по </a:t>
            </a:r>
            <a:r>
              <a:rPr lang="en-US" dirty="0"/>
              <a:t>Fixed, </a:t>
            </a:r>
            <a:r>
              <a:rPr lang="ru-RU" dirty="0"/>
              <a:t>значит потеряли доход)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058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Предварительный анализ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Предварительный анализ – это начальный этап проекта</a:t>
            </a:r>
            <a:r>
              <a:rPr lang="en-US" dirty="0"/>
              <a:t>, </a:t>
            </a:r>
            <a:r>
              <a:rPr lang="ru-RU" dirty="0"/>
              <a:t>когда мы разбираемся</a:t>
            </a:r>
            <a:r>
              <a:rPr lang="en-US" dirty="0"/>
              <a:t>, </a:t>
            </a:r>
            <a:r>
              <a:rPr lang="ru-RU" dirty="0"/>
              <a:t>а стоит ли игра</a:t>
            </a:r>
            <a:r>
              <a:rPr lang="en-US" dirty="0"/>
              <a:t> </a:t>
            </a:r>
            <a:r>
              <a:rPr lang="ru-RU" dirty="0"/>
              <a:t>того</a:t>
            </a:r>
            <a:r>
              <a:rPr lang="en-US" dirty="0"/>
              <a:t>, </a:t>
            </a:r>
            <a:r>
              <a:rPr lang="ru-RU" dirty="0"/>
              <a:t>чтобы в нее играть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Тут отвечаем на важные вопросы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Что мы хотим сделать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Зачем мы это делаем</a:t>
            </a:r>
            <a:r>
              <a:rPr lang="en-US" dirty="0"/>
              <a:t> (</a:t>
            </a:r>
            <a:r>
              <a:rPr lang="ru-RU" dirty="0"/>
              <a:t>какую задачу</a:t>
            </a:r>
            <a:r>
              <a:rPr lang="en-US" dirty="0"/>
              <a:t>/</a:t>
            </a:r>
            <a:r>
              <a:rPr lang="ru-RU" dirty="0"/>
              <a:t>проблему решаем)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Кто будет это использовать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91650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🔍</a:t>
            </a:r>
            <a:r>
              <a:rPr lang="en-US" dirty="0"/>
              <a:t> </a:t>
            </a:r>
            <a:r>
              <a:rPr lang="ru-RU" dirty="0"/>
              <a:t>Что мы делаем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Мы создаем мобильное приложение</a:t>
            </a:r>
            <a:r>
              <a:rPr lang="en-US" dirty="0"/>
              <a:t>, </a:t>
            </a:r>
            <a:r>
              <a:rPr lang="ru-RU" dirty="0"/>
              <a:t>которое показывает пользователю свободные парковочные места в городе в режиме реального времени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Приложение умеет строить маршрут до ближайшей парковки (можно выбрать платную</a:t>
            </a:r>
            <a:r>
              <a:rPr lang="en-US" dirty="0"/>
              <a:t>/</a:t>
            </a:r>
            <a:r>
              <a:rPr lang="ru-RU" dirty="0"/>
              <a:t>бесплатную) и умеет в режиме реального времени изменять маршрут</a:t>
            </a:r>
            <a:r>
              <a:rPr lang="en-US" dirty="0"/>
              <a:t>, </a:t>
            </a:r>
            <a:r>
              <a:rPr lang="ru-RU" dirty="0"/>
              <a:t>если мест нет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07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🎯 Зачем мы это делаем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Тут отвечаем на вопросы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Какую задачу решает наш проект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Почему это будет полезно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Приложение решает следующие задачи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Экономия времени водителей на поиск парковки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Снижаем трафик в правых полосах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/>
              <a:t>Доп</a:t>
            </a:r>
            <a:r>
              <a:rPr lang="en-US" dirty="0"/>
              <a:t>. </a:t>
            </a:r>
            <a:r>
              <a:rPr lang="ru-RU" dirty="0"/>
              <a:t>возможность – интеграция с городскими службами и уведомление водителей если планируются работы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589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👥 А кто будет это юзать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Тут важно понять пользователя и его интересы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Аудитория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Автомобилисты</a:t>
            </a:r>
            <a:r>
              <a:rPr lang="en-US" dirty="0"/>
              <a:t>, </a:t>
            </a:r>
            <a:r>
              <a:rPr lang="ru-RU" dirty="0"/>
              <a:t>передвигающиеся по городу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Возраст примерно 20-50 лет</a:t>
            </a:r>
            <a:r>
              <a:rPr lang="en-US" dirty="0"/>
              <a:t>, </a:t>
            </a:r>
            <a:r>
              <a:rPr lang="ru-RU" dirty="0"/>
              <a:t>активно используют телефон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Потребности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Экономия личного времени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Комфорт и удобство перемещения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Как будем изучать аудиторию (</a:t>
            </a:r>
            <a:r>
              <a:rPr lang="en-US" dirty="0"/>
              <a:t>customer development)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Короткие интервью с водителями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Онлайн опрос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509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👥 Для кого этот проект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Сектор</a:t>
            </a:r>
            <a:r>
              <a:rPr lang="en-US" dirty="0"/>
              <a:t>: </a:t>
            </a:r>
            <a:r>
              <a:rPr lang="ru-RU" dirty="0"/>
              <a:t>коммерция (стартап)</a:t>
            </a:r>
          </a:p>
          <a:p>
            <a:pPr marL="0" indent="0">
              <a:buNone/>
            </a:pPr>
            <a:r>
              <a:rPr lang="ru-RU" dirty="0"/>
              <a:t>Ключевые пользователи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Автомобилисты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Частные компании (такси</a:t>
            </a:r>
            <a:r>
              <a:rPr lang="en-US" dirty="0"/>
              <a:t>, </a:t>
            </a:r>
            <a:r>
              <a:rPr lang="ru-RU" dirty="0"/>
              <a:t>каршеринг)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 перспективе</a:t>
            </a:r>
            <a:r>
              <a:rPr lang="en-US" dirty="0"/>
              <a:t>: </a:t>
            </a:r>
            <a:r>
              <a:rPr lang="ru-RU" dirty="0"/>
              <a:t>муниципальные службы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5972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Практический 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Идея проекта</a:t>
            </a:r>
            <a:r>
              <a:rPr lang="en-US" dirty="0"/>
              <a:t>: </a:t>
            </a:r>
            <a:r>
              <a:rPr lang="ru-RU" dirty="0"/>
              <a:t>приложение для поиска парковки</a:t>
            </a:r>
          </a:p>
          <a:p>
            <a:pPr marL="0" indent="0">
              <a:buNone/>
            </a:pPr>
            <a:r>
              <a:rPr lang="ru-RU" dirty="0"/>
              <a:t>Цель</a:t>
            </a:r>
            <a:r>
              <a:rPr lang="en-US" dirty="0"/>
              <a:t>: </a:t>
            </a:r>
            <a:r>
              <a:rPr lang="ru-RU" dirty="0"/>
              <a:t>сокращение времени поиска парковки</a:t>
            </a:r>
            <a:r>
              <a:rPr lang="en-US" dirty="0"/>
              <a:t>, </a:t>
            </a:r>
            <a:r>
              <a:rPr lang="ru-RU" dirty="0"/>
              <a:t>улучшение городского трафика</a:t>
            </a:r>
          </a:p>
          <a:p>
            <a:pPr marL="0" indent="0">
              <a:buNone/>
            </a:pPr>
            <a:r>
              <a:rPr lang="ru-RU" dirty="0"/>
              <a:t>Целевая аудитория</a:t>
            </a:r>
            <a:r>
              <a:rPr lang="en-US" dirty="0"/>
              <a:t>: </a:t>
            </a:r>
            <a:r>
              <a:rPr lang="ru-RU" dirty="0"/>
              <a:t>автомобилисты</a:t>
            </a:r>
            <a:r>
              <a:rPr lang="en-US" dirty="0"/>
              <a:t>, 20-50 </a:t>
            </a:r>
            <a:r>
              <a:rPr lang="ru-RU" dirty="0"/>
              <a:t>лет</a:t>
            </a:r>
            <a:r>
              <a:rPr lang="en-US" dirty="0"/>
              <a:t>, </a:t>
            </a:r>
            <a:r>
              <a:rPr lang="ru-RU" dirty="0"/>
              <a:t>офисные работники</a:t>
            </a:r>
            <a:r>
              <a:rPr lang="en-US" dirty="0"/>
              <a:t>, </a:t>
            </a:r>
            <a:r>
              <a:rPr lang="ru-RU" dirty="0"/>
              <a:t>службы доставки</a:t>
            </a:r>
            <a:r>
              <a:rPr lang="en-US" dirty="0"/>
              <a:t>, </a:t>
            </a:r>
            <a:r>
              <a:rPr lang="ru-RU" dirty="0"/>
              <a:t>такси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Валидация идеи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Customer development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Анализ конкурентов</a:t>
            </a:r>
          </a:p>
          <a:p>
            <a:pPr marL="0" indent="0">
              <a:buNone/>
            </a:pPr>
            <a:r>
              <a:rPr lang="ru-RU" dirty="0"/>
              <a:t>Выводы</a:t>
            </a:r>
            <a:r>
              <a:rPr lang="en-US" dirty="0"/>
              <a:t>: </a:t>
            </a:r>
            <a:endParaRPr lang="ru-RU" dirty="0"/>
          </a:p>
          <a:p>
            <a:pPr marL="514350" indent="-514350">
              <a:buAutoNum type="arabicPeriod"/>
            </a:pPr>
            <a:r>
              <a:rPr lang="ru-RU" dirty="0"/>
              <a:t>Проблема актуальна – можем продолжать работу</a:t>
            </a:r>
            <a:r>
              <a:rPr lang="en-US" dirty="0"/>
              <a:t>. </a:t>
            </a:r>
            <a:endParaRPr lang="ru-RU" dirty="0"/>
          </a:p>
          <a:p>
            <a:pPr marL="514350" indent="-514350">
              <a:buAutoNum type="arabicPeriod"/>
            </a:pPr>
            <a:r>
              <a:rPr lang="ru-RU" dirty="0"/>
              <a:t>Проблема неактуальна</a:t>
            </a:r>
            <a:r>
              <a:rPr lang="en-US" dirty="0"/>
              <a:t>, </a:t>
            </a:r>
            <a:r>
              <a:rPr lang="ru-RU" dirty="0"/>
              <a:t>задача является решенной – закрываем идею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281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82413-DFDF-389F-5697-21D9CF4F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Самое важное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C7D2F-3711-2152-69C5-828B72059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Деньги</a:t>
            </a:r>
            <a:r>
              <a:rPr lang="en-US" dirty="0"/>
              <a:t>. </a:t>
            </a:r>
            <a:r>
              <a:rPr lang="ru-RU" dirty="0"/>
              <a:t>На что будет жить проект</a:t>
            </a:r>
            <a:r>
              <a:rPr lang="en-US" dirty="0"/>
              <a:t>?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Какие источники могут быть в приложении для парковки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780125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892</Words>
  <Application>Microsoft Macintosh PowerPoint</Application>
  <PresentationFormat>Широкоэкранный</PresentationFormat>
  <Paragraphs>143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Тема Office 2013 – 2022</vt:lpstr>
      <vt:lpstr>Управление проектами</vt:lpstr>
      <vt:lpstr>План</vt:lpstr>
      <vt:lpstr>В прошлой серии…</vt:lpstr>
      <vt:lpstr>Бюджеты проектов</vt:lpstr>
      <vt:lpstr>Проще говоря</vt:lpstr>
      <vt:lpstr>А как считать?</vt:lpstr>
      <vt:lpstr>Типы бюджетов</vt:lpstr>
      <vt:lpstr>Fixed Price</vt:lpstr>
      <vt:lpstr>Fixed Price (предложите идеи)</vt:lpstr>
      <vt:lpstr>Time&amp;Material</vt:lpstr>
      <vt:lpstr>Time&amp;Material (Предложите идеи)</vt:lpstr>
      <vt:lpstr>Agile-бюджеты</vt:lpstr>
      <vt:lpstr>Agile-бюджеты (Предложите идеи)</vt:lpstr>
      <vt:lpstr>Правило выбора бюджета</vt:lpstr>
      <vt:lpstr>Пример #1</vt:lpstr>
      <vt:lpstr>Пример #2</vt:lpstr>
      <vt:lpstr>Пример #3</vt:lpstr>
      <vt:lpstr>Пример #4</vt:lpstr>
      <vt:lpstr>А зачем мне это?</vt:lpstr>
      <vt:lpstr>Предварительный анализ проекта</vt:lpstr>
      <vt:lpstr>🔍 Что мы делаем</vt:lpstr>
      <vt:lpstr>🎯 Зачем мы это делаем?</vt:lpstr>
      <vt:lpstr>👥 А кто будет это юзать?</vt:lpstr>
      <vt:lpstr>👥 Для кого этот проект?</vt:lpstr>
      <vt:lpstr>Практический пример</vt:lpstr>
      <vt:lpstr>Самое важное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проектами</dc:title>
  <dc:creator>fj975</dc:creator>
  <cp:lastModifiedBy>fj975</cp:lastModifiedBy>
  <cp:revision>7</cp:revision>
  <dcterms:created xsi:type="dcterms:W3CDTF">2025-03-15T01:26:25Z</dcterms:created>
  <dcterms:modified xsi:type="dcterms:W3CDTF">2026-02-28T06:35:04Z</dcterms:modified>
</cp:coreProperties>
</file>